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3655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hands up who has had a production incident where the surprise was not that something failed, but how the rest of the system reacted to it. That gap is what this practice is about. Twenty minutes, then a live demo where you get to break a cluster.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land: we are all quite good at verifying intended behaviour and quite bad at verifying unintended behaviour. Failure is not an edge case in distributed systems, it is the normal operating condition.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Netflix popularised the practice with Chaos Monkey, which terminated instances at random during working hours so that engineers had to build services that tolerated it. The discipline has since grown well past random killing: modern experiments are specific and hypothesis-led.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are complements, not competitors. If your unit tests are weak, chaos experiments will just find bugs you could have caught cheaply. The practice pays off once the obvious things already work.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step 2. Without a hypothesis you are just deleting things, and whatever happens you will rationalise it afterwards. The hypothesis is what turns vandalism into an experiment.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blast radius point deserves a sentence: the goal is to find the failure before your customers do, not to cause the failure your customers were going to have anyway.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of these six they would bet money on in their own environment. Usually at least one hand goes up for the untested failover, and that is the conversation you want.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last row: KubeInvaders is not what you would schedule against production. It is what you show people so they understand why the serious tools matter. That framing lands better than pretending it is an enterprise solution.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teams never need stage three. Stage one, done honestly and regularly, already removes the majority of the embarrassing failure modes. Do not let the maturity model become a reason to wait.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windows here. Have the game open in one window and a terminal running watch kubectl get pods -n shop -o wide next to it. Do not start shooting until people can see both.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three predictions out loud before shooting anything. That is the hypothesis step from earlier in the deck, and doing it live makes the method concrete rather than theoretical.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four is the one people remember, and it is worth pausing on. Plenty of teams believe a PDB protects them from pod loss generally. It protects against voluntary disruption only.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offering the repo: the whole demo environment is a kind config, a handful of manifests and a setup script, so anyone in the room can rebuild it on their own laptop in about ten minutes.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D"/>
        </a:solidFill>
        <a:effectLst/>
      </p:bgPr>
    </p:bg>
    <p:spTree>
      <p:nvGrpSpPr>
        <p:cNvPr id="1" name=""/>
        <p:cNvGrpSpPr/>
        <p:nvPr/>
      </p:nvGrpSpPr>
      <p:grpSpPr>
        <a:xfrm>
          <a:off x="0" y="0"/>
          <a:ext cx="0" cy="0"/>
          <a:chOff x="0" y="0"/>
          <a:chExt cx="0" cy="0"/>
        </a:xfrm>
      </p:grpSpPr>
      <p:sp>
        <p:nvSpPr>
          <p:cNvPr id="2" name="Text 0"/>
          <p:cNvSpPr/>
          <p:nvPr/>
        </p:nvSpPr>
        <p:spPr>
          <a:xfrm>
            <a:off x="812782" y="812782"/>
            <a:ext cx="10883429" cy="256489"/>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63E6A0"/>
                </a:solidFill>
                <a:latin typeface="Inter" pitchFamily="34" charset="0"/>
                <a:ea typeface="Inter" pitchFamily="34" charset="-122"/>
                <a:cs typeface="Inter" pitchFamily="34" charset="-120"/>
              </a:rPr>
              <a:t>DEVOPS · RESILIENCE · KUBERNETES</a:t>
            </a:r>
            <a:endParaRPr lang="en-US" sz="1300" dirty="0"/>
          </a:p>
        </p:txBody>
      </p:sp>
      <p:sp>
        <p:nvSpPr>
          <p:cNvPr id="3" name="Text 1"/>
          <p:cNvSpPr/>
          <p:nvPr/>
        </p:nvSpPr>
        <p:spPr>
          <a:xfrm>
            <a:off x="812782" y="2726711"/>
            <a:ext cx="10883429" cy="863618"/>
          </a:xfrm>
          <a:prstGeom prst="rect">
            <a:avLst/>
          </a:prstGeom>
          <a:noFill/>
          <a:ln/>
        </p:spPr>
        <p:txBody>
          <a:bodyPr wrap="square" lIns="0" tIns="0" rIns="0" bIns="0" rtlCol="0" anchor="t">
            <a:normAutofit/>
          </a:bodyPr>
          <a:lstStyle/>
          <a:p>
            <a:pPr marL="0" indent="0" algn="l">
              <a:lnSpc>
                <a:spcPts val="6600"/>
              </a:lnSpc>
              <a:buNone/>
            </a:pPr>
            <a:r>
              <a:rPr lang="en-US" sz="6600" b="1" dirty="0">
                <a:solidFill>
                  <a:srgbClr val="F4F2EC"/>
                </a:solidFill>
                <a:latin typeface="Space Grotesk" pitchFamily="34" charset="0"/>
                <a:ea typeface="Space Grotesk" pitchFamily="34" charset="-122"/>
                <a:cs typeface="Space Grotesk" pitchFamily="34" charset="-120"/>
              </a:rPr>
              <a:t>Chaos Engineering</a:t>
            </a:r>
            <a:endParaRPr lang="en-US" sz="6600" dirty="0"/>
          </a:p>
        </p:txBody>
      </p:sp>
      <p:sp>
        <p:nvSpPr>
          <p:cNvPr id="4" name="Text 2"/>
          <p:cNvSpPr/>
          <p:nvPr/>
        </p:nvSpPr>
        <p:spPr>
          <a:xfrm>
            <a:off x="812782" y="3793494"/>
            <a:ext cx="7717790" cy="363195"/>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9AA3B0"/>
                </a:solidFill>
                <a:latin typeface="Inter" pitchFamily="34" charset="0"/>
                <a:ea typeface="Inter" pitchFamily="34" charset="-122"/>
                <a:cs typeface="Inter" pitchFamily="34" charset="-120"/>
              </a:rPr>
              <a:t>Breaking things on purpose, so they stop breaking by surprise</a:t>
            </a:r>
            <a:endParaRPr lang="en-US" sz="1900" dirty="0"/>
          </a:p>
        </p:txBody>
      </p:sp>
      <p:sp>
        <p:nvSpPr>
          <p:cNvPr id="5" name="Text 3"/>
          <p:cNvSpPr/>
          <p:nvPr/>
        </p:nvSpPr>
        <p:spPr>
          <a:xfrm>
            <a:off x="812782" y="5814128"/>
            <a:ext cx="10883429" cy="2564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9AA3B0"/>
                </a:solidFill>
                <a:latin typeface="Inter" pitchFamily="34" charset="0"/>
                <a:ea typeface="Inter" pitchFamily="34" charset="-122"/>
                <a:cs typeface="Inter" pitchFamily="34" charset="-120"/>
              </a:rPr>
              <a:t>Florian · DevOps </a:t>
            </a:r>
            <a:r>
              <a:rPr lang="en-US" sz="1300">
                <a:solidFill>
                  <a:srgbClr val="9AA3B0"/>
                </a:solidFill>
                <a:latin typeface="Inter" pitchFamily="34" charset="0"/>
                <a:ea typeface="Inter" pitchFamily="34" charset="-122"/>
                <a:cs typeface="Inter" pitchFamily="34" charset="-120"/>
              </a:rPr>
              <a:t>· 22.09.2026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3E6A0"/>
        </a:solidFill>
        <a:effectLst/>
      </p:bgPr>
    </p:bg>
    <p:spTree>
      <p:nvGrpSpPr>
        <p:cNvPr id="1" name=""/>
        <p:cNvGrpSpPr/>
        <p:nvPr/>
      </p:nvGrpSpPr>
      <p:grpSpPr>
        <a:xfrm>
          <a:off x="0" y="0"/>
          <a:ext cx="0" cy="0"/>
          <a:chOff x="0" y="0"/>
          <a:chExt cx="0" cy="0"/>
        </a:xfrm>
      </p:grpSpPr>
      <p:sp>
        <p:nvSpPr>
          <p:cNvPr id="2" name="Text 0"/>
          <p:cNvSpPr/>
          <p:nvPr/>
        </p:nvSpPr>
        <p:spPr>
          <a:xfrm>
            <a:off x="812782" y="2033353"/>
            <a:ext cx="9810750" cy="1953130"/>
          </a:xfrm>
          <a:prstGeom prst="rect">
            <a:avLst/>
          </a:prstGeom>
          <a:noFill/>
          <a:ln/>
        </p:spPr>
        <p:txBody>
          <a:bodyPr wrap="square" lIns="0" tIns="0" rIns="0" bIns="0" rtlCol="0" anchor="t">
            <a:normAutofit/>
          </a:bodyPr>
          <a:lstStyle/>
          <a:p>
            <a:pPr marL="0" indent="0" algn="l">
              <a:lnSpc>
                <a:spcPts val="5060"/>
              </a:lnSpc>
              <a:buNone/>
            </a:pPr>
            <a:r>
              <a:rPr lang="en-US" sz="4400" b="1" dirty="0">
                <a:solidFill>
                  <a:srgbClr val="101319"/>
                </a:solidFill>
                <a:latin typeface="Space Grotesk" pitchFamily="34" charset="0"/>
                <a:ea typeface="Space Grotesk" pitchFamily="34" charset="-122"/>
                <a:cs typeface="Space Grotesk" pitchFamily="34" charset="-120"/>
              </a:rPr>
              <a:t>Every distributed system fails. The open question is whether anyone is watching when it does.</a:t>
            </a:r>
            <a:endParaRPr lang="en-US" sz="4400" dirty="0"/>
          </a:p>
        </p:txBody>
      </p:sp>
      <p:sp>
        <p:nvSpPr>
          <p:cNvPr id="3" name="Text 1"/>
          <p:cNvSpPr/>
          <p:nvPr/>
        </p:nvSpPr>
        <p:spPr>
          <a:xfrm>
            <a:off x="812782" y="4215083"/>
            <a:ext cx="8502650" cy="634964"/>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2A3A30"/>
                </a:solidFill>
                <a:latin typeface="Inter" pitchFamily="34" charset="0"/>
                <a:ea typeface="Inter" pitchFamily="34" charset="-122"/>
                <a:cs typeface="Inter" pitchFamily="34" charset="-120"/>
              </a:rPr>
              <a:t>A test suite proves the code does what you wrote it to do. It says nothing about what happens when a node disappears at 03:00.</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71D"/>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528259"/>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4F2EC"/>
                </a:solidFill>
                <a:latin typeface="Space Grotesk" pitchFamily="34" charset="0"/>
                <a:ea typeface="Space Grotesk" pitchFamily="34" charset="-122"/>
                <a:cs typeface="Space Grotesk" pitchFamily="34" charset="-120"/>
              </a:rPr>
              <a:t>What chaos engineering is</a:t>
            </a:r>
            <a:endParaRPr lang="en-US" sz="3600" dirty="0"/>
          </a:p>
        </p:txBody>
      </p:sp>
      <p:sp>
        <p:nvSpPr>
          <p:cNvPr id="3" name="Text 1"/>
          <p:cNvSpPr/>
          <p:nvPr/>
        </p:nvSpPr>
        <p:spPr>
          <a:xfrm>
            <a:off x="812782" y="1645768"/>
            <a:ext cx="9941560" cy="724982"/>
          </a:xfrm>
          <a:prstGeom prst="rect">
            <a:avLst/>
          </a:prstGeom>
          <a:noFill/>
          <a:ln/>
        </p:spPr>
        <p:txBody>
          <a:bodyPr wrap="square" lIns="0" tIns="0" rIns="0" bIns="0" rtlCol="0" anchor="t">
            <a:normAutofit/>
          </a:bodyPr>
          <a:lstStyle/>
          <a:p>
            <a:pPr marL="0" indent="0" algn="l">
              <a:lnSpc>
                <a:spcPts val="2755"/>
              </a:lnSpc>
              <a:buNone/>
            </a:pPr>
            <a:r>
              <a:rPr lang="en-US" sz="1900" dirty="0">
                <a:solidFill>
                  <a:srgbClr val="F4F2EC"/>
                </a:solidFill>
                <a:latin typeface="Inter" pitchFamily="34" charset="0"/>
                <a:ea typeface="Inter" pitchFamily="34" charset="-122"/>
                <a:cs typeface="Inter" pitchFamily="34" charset="-120"/>
              </a:rPr>
              <a:t>Deliberately injecting failure into a running system to build confidence that it behaves the way you believe it does.</a:t>
            </a:r>
            <a:endParaRPr lang="en-US" sz="1900" dirty="0"/>
          </a:p>
        </p:txBody>
      </p:sp>
      <p:sp>
        <p:nvSpPr>
          <p:cNvPr id="4" name="Shape 2"/>
          <p:cNvSpPr/>
          <p:nvPr/>
        </p:nvSpPr>
        <p:spPr>
          <a:xfrm>
            <a:off x="815957" y="2678654"/>
            <a:ext cx="2501900" cy="1700483"/>
          </a:xfrm>
          <a:prstGeom prst="roundRect">
            <a:avLst>
              <a:gd name="adj" fmla="val 5788"/>
            </a:avLst>
          </a:prstGeom>
          <a:solidFill>
            <a:srgbClr val="1C2028"/>
          </a:solidFill>
          <a:ln w="6350">
            <a:solidFill>
              <a:srgbClr val="2B313C"/>
            </a:solidFill>
            <a:prstDash val="solid"/>
          </a:ln>
        </p:spPr>
        <p:txBody>
          <a:bodyPr/>
          <a:lstStyle/>
          <a:p>
            <a:endParaRPr lang="de-DE"/>
          </a:p>
        </p:txBody>
      </p:sp>
      <p:sp>
        <p:nvSpPr>
          <p:cNvPr id="5" name="Text 3"/>
          <p:cNvSpPr/>
          <p:nvPr/>
        </p:nvSpPr>
        <p:spPr>
          <a:xfrm>
            <a:off x="1047119" y="2909815"/>
            <a:ext cx="21007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63E6A0"/>
                </a:solidFill>
                <a:latin typeface="Inter" pitchFamily="34" charset="0"/>
                <a:ea typeface="Inter" pitchFamily="34" charset="-122"/>
                <a:cs typeface="Inter" pitchFamily="34" charset="-120"/>
              </a:rPr>
              <a:t>Deliberate</a:t>
            </a:r>
            <a:endParaRPr lang="en-US" sz="1500" dirty="0"/>
          </a:p>
        </p:txBody>
      </p:sp>
      <p:sp>
        <p:nvSpPr>
          <p:cNvPr id="6" name="Text 4"/>
          <p:cNvSpPr/>
          <p:nvPr/>
        </p:nvSpPr>
        <p:spPr>
          <a:xfrm>
            <a:off x="1047119" y="3227225"/>
            <a:ext cx="2100764" cy="715962"/>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9AA3B0"/>
                </a:solidFill>
                <a:latin typeface="Inter" pitchFamily="34" charset="0"/>
                <a:ea typeface="Inter" pitchFamily="34" charset="-122"/>
                <a:cs typeface="Inter" pitchFamily="34" charset="-120"/>
              </a:rPr>
              <a:t>You choose the fault, the time and the target. Nothing about it is random.</a:t>
            </a:r>
            <a:endParaRPr lang="en-US" sz="1250" dirty="0"/>
          </a:p>
        </p:txBody>
      </p:sp>
      <p:sp>
        <p:nvSpPr>
          <p:cNvPr id="7" name="Shape 5"/>
          <p:cNvSpPr/>
          <p:nvPr/>
        </p:nvSpPr>
        <p:spPr>
          <a:xfrm>
            <a:off x="3501989" y="2678654"/>
            <a:ext cx="2501990" cy="1700483"/>
          </a:xfrm>
          <a:prstGeom prst="roundRect">
            <a:avLst>
              <a:gd name="adj" fmla="val 5788"/>
            </a:avLst>
          </a:prstGeom>
          <a:solidFill>
            <a:srgbClr val="1C2028"/>
          </a:solidFill>
          <a:ln w="6350">
            <a:solidFill>
              <a:srgbClr val="2B313C"/>
            </a:solidFill>
            <a:prstDash val="solid"/>
          </a:ln>
        </p:spPr>
        <p:txBody>
          <a:bodyPr/>
          <a:lstStyle/>
          <a:p>
            <a:endParaRPr lang="de-DE"/>
          </a:p>
        </p:txBody>
      </p:sp>
      <p:sp>
        <p:nvSpPr>
          <p:cNvPr id="8" name="Text 6"/>
          <p:cNvSpPr/>
          <p:nvPr/>
        </p:nvSpPr>
        <p:spPr>
          <a:xfrm>
            <a:off x="3733150" y="2909815"/>
            <a:ext cx="2100857"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63E6A0"/>
                </a:solidFill>
                <a:latin typeface="Inter" pitchFamily="34" charset="0"/>
                <a:ea typeface="Inter" pitchFamily="34" charset="-122"/>
                <a:cs typeface="Inter" pitchFamily="34" charset="-120"/>
              </a:rPr>
              <a:t>Hypothesis-driven</a:t>
            </a:r>
            <a:endParaRPr lang="en-US" sz="1500" dirty="0"/>
          </a:p>
        </p:txBody>
      </p:sp>
      <p:sp>
        <p:nvSpPr>
          <p:cNvPr id="9" name="Text 7"/>
          <p:cNvSpPr/>
          <p:nvPr/>
        </p:nvSpPr>
        <p:spPr>
          <a:xfrm>
            <a:off x="3733150" y="3227225"/>
            <a:ext cx="2100857" cy="946150"/>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9AA3B0"/>
                </a:solidFill>
                <a:latin typeface="Inter" pitchFamily="34" charset="0"/>
                <a:ea typeface="Inter" pitchFamily="34" charset="-122"/>
                <a:cs typeface="Inter" pitchFamily="34" charset="-120"/>
              </a:rPr>
              <a:t>You state what should happen first. The experiment confirms or refutes it.</a:t>
            </a:r>
            <a:endParaRPr lang="en-US" sz="1250" dirty="0"/>
          </a:p>
        </p:txBody>
      </p:sp>
      <p:sp>
        <p:nvSpPr>
          <p:cNvPr id="10" name="Shape 8"/>
          <p:cNvSpPr/>
          <p:nvPr/>
        </p:nvSpPr>
        <p:spPr>
          <a:xfrm>
            <a:off x="6188111" y="2678654"/>
            <a:ext cx="2501900" cy="1700483"/>
          </a:xfrm>
          <a:prstGeom prst="roundRect">
            <a:avLst>
              <a:gd name="adj" fmla="val 5788"/>
            </a:avLst>
          </a:prstGeom>
          <a:solidFill>
            <a:srgbClr val="1C2028"/>
          </a:solidFill>
          <a:ln w="6350">
            <a:solidFill>
              <a:srgbClr val="2B313C"/>
            </a:solidFill>
            <a:prstDash val="solid"/>
          </a:ln>
        </p:spPr>
        <p:txBody>
          <a:bodyPr/>
          <a:lstStyle/>
          <a:p>
            <a:endParaRPr lang="de-DE"/>
          </a:p>
        </p:txBody>
      </p:sp>
      <p:sp>
        <p:nvSpPr>
          <p:cNvPr id="11" name="Text 9"/>
          <p:cNvSpPr/>
          <p:nvPr/>
        </p:nvSpPr>
        <p:spPr>
          <a:xfrm>
            <a:off x="6419273" y="2909815"/>
            <a:ext cx="21007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63E6A0"/>
                </a:solidFill>
                <a:latin typeface="Inter" pitchFamily="34" charset="0"/>
                <a:ea typeface="Inter" pitchFamily="34" charset="-122"/>
                <a:cs typeface="Inter" pitchFamily="34" charset="-120"/>
              </a:rPr>
              <a:t>Contained</a:t>
            </a:r>
            <a:endParaRPr lang="en-US" sz="1500" dirty="0"/>
          </a:p>
        </p:txBody>
      </p:sp>
      <p:sp>
        <p:nvSpPr>
          <p:cNvPr id="12" name="Text 10"/>
          <p:cNvSpPr/>
          <p:nvPr/>
        </p:nvSpPr>
        <p:spPr>
          <a:xfrm>
            <a:off x="6419273" y="3227225"/>
            <a:ext cx="2100764" cy="715962"/>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9AA3B0"/>
                </a:solidFill>
                <a:latin typeface="Inter" pitchFamily="34" charset="0"/>
                <a:ea typeface="Inter" pitchFamily="34" charset="-122"/>
                <a:cs typeface="Inter" pitchFamily="34" charset="-120"/>
              </a:rPr>
              <a:t>Small blast radius, an abort switch, and a way back to normal.</a:t>
            </a:r>
            <a:endParaRPr lang="en-US" sz="1250" dirty="0"/>
          </a:p>
        </p:txBody>
      </p:sp>
      <p:sp>
        <p:nvSpPr>
          <p:cNvPr id="13" name="Shape 11"/>
          <p:cNvSpPr/>
          <p:nvPr/>
        </p:nvSpPr>
        <p:spPr>
          <a:xfrm>
            <a:off x="8874143" y="2678654"/>
            <a:ext cx="2501900" cy="1700483"/>
          </a:xfrm>
          <a:prstGeom prst="roundRect">
            <a:avLst>
              <a:gd name="adj" fmla="val 5788"/>
            </a:avLst>
          </a:prstGeom>
          <a:solidFill>
            <a:srgbClr val="1C2028"/>
          </a:solidFill>
          <a:ln w="6350">
            <a:solidFill>
              <a:srgbClr val="2B313C"/>
            </a:solidFill>
            <a:prstDash val="solid"/>
          </a:ln>
        </p:spPr>
        <p:txBody>
          <a:bodyPr/>
          <a:lstStyle/>
          <a:p>
            <a:endParaRPr lang="de-DE"/>
          </a:p>
        </p:txBody>
      </p:sp>
      <p:sp>
        <p:nvSpPr>
          <p:cNvPr id="14" name="Text 12"/>
          <p:cNvSpPr/>
          <p:nvPr/>
        </p:nvSpPr>
        <p:spPr>
          <a:xfrm>
            <a:off x="9105305" y="2909815"/>
            <a:ext cx="21007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63E6A0"/>
                </a:solidFill>
                <a:latin typeface="Inter" pitchFamily="34" charset="0"/>
                <a:ea typeface="Inter" pitchFamily="34" charset="-122"/>
                <a:cs typeface="Inter" pitchFamily="34" charset="-120"/>
              </a:rPr>
              <a:t>On real systems</a:t>
            </a:r>
            <a:endParaRPr lang="en-US" sz="1500" dirty="0"/>
          </a:p>
        </p:txBody>
      </p:sp>
      <p:sp>
        <p:nvSpPr>
          <p:cNvPr id="15" name="Text 13"/>
          <p:cNvSpPr/>
          <p:nvPr/>
        </p:nvSpPr>
        <p:spPr>
          <a:xfrm>
            <a:off x="9105305" y="3227225"/>
            <a:ext cx="2100764" cy="946150"/>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9AA3B0"/>
                </a:solidFill>
                <a:latin typeface="Inter" pitchFamily="34" charset="0"/>
                <a:ea typeface="Inter" pitchFamily="34" charset="-122"/>
                <a:cs typeface="Inter" pitchFamily="34" charset="-120"/>
              </a:rPr>
              <a:t>Staging tells you something. The system carrying traffic tells you the truth.</a:t>
            </a:r>
            <a:endParaRPr lang="en-US" sz="1250" dirty="0"/>
          </a:p>
        </p:txBody>
      </p:sp>
      <p:sp>
        <p:nvSpPr>
          <p:cNvPr id="16" name="Text 14"/>
          <p:cNvSpPr/>
          <p:nvPr/>
        </p:nvSpPr>
        <p:spPr>
          <a:xfrm>
            <a:off x="10617218" y="6238242"/>
            <a:ext cx="8128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775"/>
                </a:solidFill>
                <a:latin typeface="Inter" pitchFamily="34" charset="0"/>
                <a:ea typeface="Inter" pitchFamily="34" charset="-122"/>
                <a:cs typeface="Inte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528259"/>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E24"/>
                </a:solidFill>
                <a:latin typeface="Space Grotesk" pitchFamily="34" charset="0"/>
                <a:ea typeface="Space Grotesk" pitchFamily="34" charset="-122"/>
                <a:cs typeface="Space Grotesk" pitchFamily="34" charset="-120"/>
              </a:rPr>
              <a:t>Where it sits next to testing</a:t>
            </a:r>
            <a:endParaRPr lang="en-US" sz="3600" dirty="0"/>
          </a:p>
        </p:txBody>
      </p:sp>
      <p:sp>
        <p:nvSpPr>
          <p:cNvPr id="3" name="Shape 1"/>
          <p:cNvSpPr/>
          <p:nvPr/>
        </p:nvSpPr>
        <p:spPr>
          <a:xfrm>
            <a:off x="815957" y="1648943"/>
            <a:ext cx="5149868" cy="2571894"/>
          </a:xfrm>
          <a:prstGeom prst="roundRect">
            <a:avLst>
              <a:gd name="adj" fmla="val 4815"/>
            </a:avLst>
          </a:prstGeom>
          <a:solidFill>
            <a:srgbClr val="FFFFFF"/>
          </a:solidFill>
          <a:ln w="6350">
            <a:solidFill>
              <a:srgbClr val="DDD9CF"/>
            </a:solidFill>
            <a:prstDash val="solid"/>
          </a:ln>
        </p:spPr>
        <p:txBody>
          <a:bodyPr/>
          <a:lstStyle/>
          <a:p>
            <a:endParaRPr lang="de-DE"/>
          </a:p>
        </p:txBody>
      </p:sp>
      <p:sp>
        <p:nvSpPr>
          <p:cNvPr id="4" name="Text 2"/>
          <p:cNvSpPr/>
          <p:nvPr/>
        </p:nvSpPr>
        <p:spPr>
          <a:xfrm>
            <a:off x="1123337" y="1956322"/>
            <a:ext cx="4671162" cy="33018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1E24"/>
                </a:solidFill>
                <a:latin typeface="Space Grotesk" pitchFamily="34" charset="0"/>
                <a:ea typeface="Space Grotesk" pitchFamily="34" charset="-122"/>
                <a:cs typeface="Space Grotesk" pitchFamily="34" charset="-120"/>
              </a:rPr>
              <a:t>Testing</a:t>
            </a:r>
            <a:endParaRPr lang="en-US" sz="2000" dirty="0"/>
          </a:p>
        </p:txBody>
      </p:sp>
      <p:sp>
        <p:nvSpPr>
          <p:cNvPr id="5" name="Text 3"/>
          <p:cNvSpPr/>
          <p:nvPr/>
        </p:nvSpPr>
        <p:spPr>
          <a:xfrm>
            <a:off x="1123337" y="2413450"/>
            <a:ext cx="4671162" cy="1525407"/>
          </a:xfrm>
          <a:prstGeom prst="rect">
            <a:avLst/>
          </a:prstGeom>
          <a:noFill/>
          <a:ln/>
        </p:spPr>
        <p:txBody>
          <a:bodyPr wrap="square" lIns="0" tIns="0" rIns="0" bIns="0" rtlCol="0" anchor="t">
            <a:normAutofit/>
          </a:bodyPr>
          <a:lstStyle/>
          <a:p>
            <a:pPr marL="342900" indent="-342900" algn="l">
              <a:lnSpc>
                <a:spcPts val="2363"/>
              </a:lnSpc>
              <a:buSzPct val="100000"/>
              <a:buChar char="•"/>
            </a:pPr>
            <a:r>
              <a:rPr lang="en-US" sz="1350" dirty="0">
                <a:solidFill>
                  <a:srgbClr val="4B515B"/>
                </a:solidFill>
                <a:latin typeface="Inter" pitchFamily="34" charset="0"/>
                <a:ea typeface="Inter" pitchFamily="34" charset="-122"/>
                <a:cs typeface="Inter" pitchFamily="34" charset="-120"/>
              </a:rPr>
              <a:t>Written from requirements</a:t>
            </a:r>
            <a:endParaRPr lang="en-US" sz="1350" dirty="0"/>
          </a:p>
          <a:p>
            <a:pPr marL="342900" indent="-342900" algn="l">
              <a:lnSpc>
                <a:spcPts val="2363"/>
              </a:lnSpc>
              <a:buSzPct val="100000"/>
              <a:buChar char="•"/>
            </a:pPr>
            <a:r>
              <a:rPr lang="en-US" sz="1350" dirty="0">
                <a:solidFill>
                  <a:srgbClr val="4B515B"/>
                </a:solidFill>
                <a:latin typeface="Inter" pitchFamily="34" charset="0"/>
                <a:ea typeface="Inter" pitchFamily="34" charset="-122"/>
                <a:cs typeface="Inter" pitchFamily="34" charset="-120"/>
              </a:rPr>
              <a:t>Asks: does it do what we specified?</a:t>
            </a:r>
            <a:endParaRPr lang="en-US" sz="1350" dirty="0"/>
          </a:p>
          <a:p>
            <a:pPr marL="342900" indent="-342900" algn="l">
              <a:lnSpc>
                <a:spcPts val="2363"/>
              </a:lnSpc>
              <a:buSzPct val="100000"/>
              <a:buChar char="•"/>
            </a:pPr>
            <a:r>
              <a:rPr lang="en-US" sz="1350" dirty="0">
                <a:solidFill>
                  <a:srgbClr val="4B515B"/>
                </a:solidFill>
                <a:latin typeface="Inter" pitchFamily="34" charset="0"/>
                <a:ea typeface="Inter" pitchFamily="34" charset="-122"/>
                <a:cs typeface="Inter" pitchFamily="34" charset="-120"/>
              </a:rPr>
              <a:t>Answers pass or fail</a:t>
            </a:r>
            <a:endParaRPr lang="en-US" sz="1350" dirty="0"/>
          </a:p>
          <a:p>
            <a:pPr marL="342900" indent="-342900" algn="l">
              <a:lnSpc>
                <a:spcPts val="2363"/>
              </a:lnSpc>
              <a:buSzPct val="100000"/>
              <a:buChar char="•"/>
            </a:pPr>
            <a:r>
              <a:rPr lang="en-US" sz="1350" dirty="0">
                <a:solidFill>
                  <a:srgbClr val="4B515B"/>
                </a:solidFill>
                <a:latin typeface="Inter" pitchFamily="34" charset="0"/>
                <a:ea typeface="Inter" pitchFamily="34" charset="-122"/>
                <a:cs typeface="Inter" pitchFamily="34" charset="-120"/>
              </a:rPr>
              <a:t>Runs in CI, on a build</a:t>
            </a:r>
            <a:endParaRPr lang="en-US" sz="1350" dirty="0"/>
          </a:p>
          <a:p>
            <a:pPr marL="342900" indent="-342900" algn="l">
              <a:lnSpc>
                <a:spcPts val="2363"/>
              </a:lnSpc>
              <a:buSzPct val="100000"/>
              <a:buChar char="•"/>
            </a:pPr>
            <a:r>
              <a:rPr lang="en-US" sz="1350" dirty="0">
                <a:solidFill>
                  <a:srgbClr val="4B515B"/>
                </a:solidFill>
                <a:latin typeface="Inter" pitchFamily="34" charset="0"/>
                <a:ea typeface="Inter" pitchFamily="34" charset="-122"/>
                <a:cs typeface="Inter" pitchFamily="34" charset="-120"/>
              </a:rPr>
              <a:t>Covers behaviour you thought of</a:t>
            </a:r>
            <a:endParaRPr lang="en-US" sz="1350" dirty="0"/>
          </a:p>
        </p:txBody>
      </p:sp>
      <p:sp>
        <p:nvSpPr>
          <p:cNvPr id="6" name="Shape 4"/>
          <p:cNvSpPr/>
          <p:nvPr/>
        </p:nvSpPr>
        <p:spPr>
          <a:xfrm>
            <a:off x="6226175" y="1648943"/>
            <a:ext cx="5149868" cy="2571894"/>
          </a:xfrm>
          <a:prstGeom prst="roundRect">
            <a:avLst>
              <a:gd name="adj" fmla="val 4815"/>
            </a:avLst>
          </a:prstGeom>
          <a:solidFill>
            <a:srgbClr val="1C2028"/>
          </a:solidFill>
          <a:ln w="6350">
            <a:solidFill>
              <a:srgbClr val="1C2028"/>
            </a:solidFill>
            <a:prstDash val="solid"/>
          </a:ln>
        </p:spPr>
        <p:txBody>
          <a:bodyPr/>
          <a:lstStyle/>
          <a:p>
            <a:endParaRPr lang="de-DE"/>
          </a:p>
        </p:txBody>
      </p:sp>
      <p:sp>
        <p:nvSpPr>
          <p:cNvPr id="7" name="Text 5"/>
          <p:cNvSpPr/>
          <p:nvPr/>
        </p:nvSpPr>
        <p:spPr>
          <a:xfrm>
            <a:off x="6533555" y="1956322"/>
            <a:ext cx="4671162" cy="33018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63E6A0"/>
                </a:solidFill>
                <a:latin typeface="Space Grotesk" pitchFamily="34" charset="0"/>
                <a:ea typeface="Space Grotesk" pitchFamily="34" charset="-122"/>
                <a:cs typeface="Space Grotesk" pitchFamily="34" charset="-120"/>
              </a:rPr>
              <a:t>Chaos engineering</a:t>
            </a:r>
            <a:endParaRPr lang="en-US" sz="2000" dirty="0"/>
          </a:p>
        </p:txBody>
      </p:sp>
      <p:sp>
        <p:nvSpPr>
          <p:cNvPr id="8" name="Text 6"/>
          <p:cNvSpPr/>
          <p:nvPr/>
        </p:nvSpPr>
        <p:spPr>
          <a:xfrm>
            <a:off x="6533555" y="2413450"/>
            <a:ext cx="4671162" cy="1525407"/>
          </a:xfrm>
          <a:prstGeom prst="rect">
            <a:avLst/>
          </a:prstGeom>
          <a:noFill/>
          <a:ln/>
        </p:spPr>
        <p:txBody>
          <a:bodyPr wrap="square" lIns="0" tIns="0" rIns="0" bIns="0" rtlCol="0" anchor="t">
            <a:normAutofit/>
          </a:bodyPr>
          <a:lstStyle/>
          <a:p>
            <a:pPr marL="342900" indent="-342900" algn="l">
              <a:lnSpc>
                <a:spcPts val="2363"/>
              </a:lnSpc>
              <a:buSzPct val="100000"/>
              <a:buChar char="•"/>
            </a:pPr>
            <a:r>
              <a:rPr lang="en-US" sz="1350" dirty="0">
                <a:solidFill>
                  <a:srgbClr val="C6CCD6"/>
                </a:solidFill>
                <a:latin typeface="Inter" pitchFamily="34" charset="0"/>
                <a:ea typeface="Inter" pitchFamily="34" charset="-122"/>
                <a:cs typeface="Inter" pitchFamily="34" charset="-120"/>
              </a:rPr>
              <a:t>Written from failure modes</a:t>
            </a:r>
            <a:endParaRPr lang="en-US" sz="1350" dirty="0"/>
          </a:p>
          <a:p>
            <a:pPr marL="342900" indent="-342900" algn="l">
              <a:lnSpc>
                <a:spcPts val="2363"/>
              </a:lnSpc>
              <a:buSzPct val="100000"/>
              <a:buChar char="•"/>
            </a:pPr>
            <a:r>
              <a:rPr lang="en-US" sz="1350" dirty="0">
                <a:solidFill>
                  <a:srgbClr val="C6CCD6"/>
                </a:solidFill>
                <a:latin typeface="Inter" pitchFamily="34" charset="0"/>
                <a:ea typeface="Inter" pitchFamily="34" charset="-122"/>
                <a:cs typeface="Inter" pitchFamily="34" charset="-120"/>
              </a:rPr>
              <a:t>Asks: how does it degrade?</a:t>
            </a:r>
            <a:endParaRPr lang="en-US" sz="1350" dirty="0"/>
          </a:p>
          <a:p>
            <a:pPr marL="342900" indent="-342900" algn="l">
              <a:lnSpc>
                <a:spcPts val="2363"/>
              </a:lnSpc>
              <a:buSzPct val="100000"/>
              <a:buChar char="•"/>
            </a:pPr>
            <a:r>
              <a:rPr lang="en-US" sz="1350" dirty="0">
                <a:solidFill>
                  <a:srgbClr val="C6CCD6"/>
                </a:solidFill>
                <a:latin typeface="Inter" pitchFamily="34" charset="0"/>
                <a:ea typeface="Inter" pitchFamily="34" charset="-122"/>
                <a:cs typeface="Inter" pitchFamily="34" charset="-120"/>
              </a:rPr>
              <a:t>Answers with evidence and surprises</a:t>
            </a:r>
            <a:endParaRPr lang="en-US" sz="1350" dirty="0"/>
          </a:p>
          <a:p>
            <a:pPr marL="342900" indent="-342900" algn="l">
              <a:lnSpc>
                <a:spcPts val="2363"/>
              </a:lnSpc>
              <a:buSzPct val="100000"/>
              <a:buChar char="•"/>
            </a:pPr>
            <a:r>
              <a:rPr lang="en-US" sz="1350" dirty="0">
                <a:solidFill>
                  <a:srgbClr val="C6CCD6"/>
                </a:solidFill>
                <a:latin typeface="Inter" pitchFamily="34" charset="0"/>
                <a:ea typeface="Inter" pitchFamily="34" charset="-122"/>
                <a:cs typeface="Inter" pitchFamily="34" charset="-120"/>
              </a:rPr>
              <a:t>Runs against a live system</a:t>
            </a:r>
            <a:endParaRPr lang="en-US" sz="1350" dirty="0"/>
          </a:p>
          <a:p>
            <a:pPr marL="342900" indent="-342900" algn="l">
              <a:lnSpc>
                <a:spcPts val="2363"/>
              </a:lnSpc>
              <a:buSzPct val="100000"/>
              <a:buChar char="•"/>
            </a:pPr>
            <a:r>
              <a:rPr lang="en-US" sz="1350" dirty="0">
                <a:solidFill>
                  <a:srgbClr val="C6CCD6"/>
                </a:solidFill>
                <a:latin typeface="Inter" pitchFamily="34" charset="0"/>
                <a:ea typeface="Inter" pitchFamily="34" charset="-122"/>
                <a:cs typeface="Inter" pitchFamily="34" charset="-120"/>
              </a:rPr>
              <a:t>Finds behaviour nobody thought of</a:t>
            </a:r>
            <a:endParaRPr lang="en-US" sz="1350" dirty="0"/>
          </a:p>
        </p:txBody>
      </p:sp>
      <p:sp>
        <p:nvSpPr>
          <p:cNvPr id="9" name="Text 7"/>
          <p:cNvSpPr/>
          <p:nvPr/>
        </p:nvSpPr>
        <p:spPr>
          <a:xfrm>
            <a:off x="10617218" y="6238242"/>
            <a:ext cx="8128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8089"/>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71D"/>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528259"/>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4F2EC"/>
                </a:solidFill>
                <a:latin typeface="Space Grotesk" pitchFamily="34" charset="0"/>
                <a:ea typeface="Space Grotesk" pitchFamily="34" charset="-122"/>
                <a:cs typeface="Space Grotesk" pitchFamily="34" charset="-120"/>
              </a:rPr>
              <a:t>The loop</a:t>
            </a:r>
            <a:endParaRPr lang="en-US" sz="3600" dirty="0"/>
          </a:p>
        </p:txBody>
      </p:sp>
      <p:sp>
        <p:nvSpPr>
          <p:cNvPr id="3" name="Shape 1"/>
          <p:cNvSpPr/>
          <p:nvPr/>
        </p:nvSpPr>
        <p:spPr>
          <a:xfrm>
            <a:off x="812782" y="1671203"/>
            <a:ext cx="1991410" cy="2397486"/>
          </a:xfrm>
          <a:prstGeom prst="roundRect">
            <a:avLst>
              <a:gd name="adj" fmla="val 5102"/>
            </a:avLst>
          </a:prstGeom>
          <a:solidFill>
            <a:srgbClr val="1C2028"/>
          </a:solidFill>
          <a:ln/>
        </p:spPr>
        <p:txBody>
          <a:bodyPr/>
          <a:lstStyle/>
          <a:p>
            <a:endParaRPr lang="de-DE"/>
          </a:p>
        </p:txBody>
      </p:sp>
      <p:sp>
        <p:nvSpPr>
          <p:cNvPr id="4" name="Text 2"/>
          <p:cNvSpPr/>
          <p:nvPr/>
        </p:nvSpPr>
        <p:spPr>
          <a:xfrm>
            <a:off x="1041346" y="1899766"/>
            <a:ext cx="1585083"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63E6A0"/>
                </a:solidFill>
                <a:latin typeface="Space Grotesk" pitchFamily="34" charset="0"/>
                <a:ea typeface="Space Grotesk" pitchFamily="34" charset="-122"/>
                <a:cs typeface="Space Grotesk" pitchFamily="34" charset="-120"/>
              </a:rPr>
              <a:t>1</a:t>
            </a:r>
            <a:endParaRPr lang="en-US" sz="2400" dirty="0"/>
          </a:p>
        </p:txBody>
      </p:sp>
      <p:sp>
        <p:nvSpPr>
          <p:cNvPr id="5" name="Text 3"/>
          <p:cNvSpPr/>
          <p:nvPr/>
        </p:nvSpPr>
        <p:spPr>
          <a:xfrm>
            <a:off x="1041346" y="2427973"/>
            <a:ext cx="1585083" cy="45204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2EC"/>
                </a:solidFill>
                <a:latin typeface="Inter" pitchFamily="34" charset="0"/>
                <a:ea typeface="Inter" pitchFamily="34" charset="-122"/>
                <a:cs typeface="Inter" pitchFamily="34" charset="-120"/>
              </a:rPr>
              <a:t>Define steady state</a:t>
            </a:r>
            <a:endParaRPr lang="en-US" sz="1400" dirty="0"/>
          </a:p>
        </p:txBody>
      </p:sp>
      <p:sp>
        <p:nvSpPr>
          <p:cNvPr id="6" name="Text 4"/>
          <p:cNvSpPr/>
          <p:nvPr/>
        </p:nvSpPr>
        <p:spPr>
          <a:xfrm>
            <a:off x="1041346" y="2956176"/>
            <a:ext cx="1585083" cy="909349"/>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9AA3B0"/>
                </a:solidFill>
                <a:latin typeface="Inter" pitchFamily="34" charset="0"/>
                <a:ea typeface="Inter" pitchFamily="34" charset="-122"/>
                <a:cs typeface="Inter" pitchFamily="34" charset="-120"/>
              </a:rPr>
              <a:t>A measurable signal of healthy: success rate, latency, orders per minute.</a:t>
            </a:r>
            <a:endParaRPr lang="en-US" sz="1200" dirty="0"/>
          </a:p>
        </p:txBody>
      </p:sp>
      <p:sp>
        <p:nvSpPr>
          <p:cNvPr id="7" name="Shape 5"/>
          <p:cNvSpPr/>
          <p:nvPr/>
        </p:nvSpPr>
        <p:spPr>
          <a:xfrm>
            <a:off x="2956538" y="1671203"/>
            <a:ext cx="1991410" cy="2397486"/>
          </a:xfrm>
          <a:prstGeom prst="roundRect">
            <a:avLst>
              <a:gd name="adj" fmla="val 5102"/>
            </a:avLst>
          </a:prstGeom>
          <a:solidFill>
            <a:srgbClr val="1C2028"/>
          </a:solidFill>
          <a:ln/>
        </p:spPr>
        <p:txBody>
          <a:bodyPr/>
          <a:lstStyle/>
          <a:p>
            <a:endParaRPr lang="de-DE"/>
          </a:p>
        </p:txBody>
      </p:sp>
      <p:sp>
        <p:nvSpPr>
          <p:cNvPr id="8" name="Text 6"/>
          <p:cNvSpPr/>
          <p:nvPr/>
        </p:nvSpPr>
        <p:spPr>
          <a:xfrm>
            <a:off x="3185102" y="1899766"/>
            <a:ext cx="1585083"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63E6A0"/>
                </a:solidFill>
                <a:latin typeface="Space Grotesk" pitchFamily="34" charset="0"/>
                <a:ea typeface="Space Grotesk" pitchFamily="34" charset="-122"/>
                <a:cs typeface="Space Grotesk" pitchFamily="34" charset="-120"/>
              </a:rPr>
              <a:t>2</a:t>
            </a:r>
            <a:endParaRPr lang="en-US" sz="2400" dirty="0"/>
          </a:p>
        </p:txBody>
      </p:sp>
      <p:sp>
        <p:nvSpPr>
          <p:cNvPr id="9" name="Text 7"/>
          <p:cNvSpPr/>
          <p:nvPr/>
        </p:nvSpPr>
        <p:spPr>
          <a:xfrm>
            <a:off x="3185102" y="2427973"/>
            <a:ext cx="1585083" cy="45204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2EC"/>
                </a:solidFill>
                <a:latin typeface="Inter" pitchFamily="34" charset="0"/>
                <a:ea typeface="Inter" pitchFamily="34" charset="-122"/>
                <a:cs typeface="Inter" pitchFamily="34" charset="-120"/>
              </a:rPr>
              <a:t>State a hypothesis</a:t>
            </a:r>
            <a:endParaRPr lang="en-US" sz="1400" dirty="0"/>
          </a:p>
        </p:txBody>
      </p:sp>
      <p:sp>
        <p:nvSpPr>
          <p:cNvPr id="10" name="Text 8"/>
          <p:cNvSpPr/>
          <p:nvPr/>
        </p:nvSpPr>
        <p:spPr>
          <a:xfrm>
            <a:off x="3185102" y="2956176"/>
            <a:ext cx="1585083" cy="688362"/>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9AA3B0"/>
                </a:solidFill>
                <a:latin typeface="Inter" pitchFamily="34" charset="0"/>
                <a:ea typeface="Inter" pitchFamily="34" charset="-122"/>
                <a:cs typeface="Inter" pitchFamily="34" charset="-120"/>
              </a:rPr>
              <a:t>"If one replica dies, the success rate stays above 99%."</a:t>
            </a:r>
            <a:endParaRPr lang="en-US" sz="1200" dirty="0"/>
          </a:p>
        </p:txBody>
      </p:sp>
      <p:sp>
        <p:nvSpPr>
          <p:cNvPr id="11" name="Shape 9"/>
          <p:cNvSpPr/>
          <p:nvPr/>
        </p:nvSpPr>
        <p:spPr>
          <a:xfrm>
            <a:off x="5100294" y="1671203"/>
            <a:ext cx="1991410" cy="2397486"/>
          </a:xfrm>
          <a:prstGeom prst="roundRect">
            <a:avLst>
              <a:gd name="adj" fmla="val 5102"/>
            </a:avLst>
          </a:prstGeom>
          <a:solidFill>
            <a:srgbClr val="1C2028"/>
          </a:solidFill>
          <a:ln/>
        </p:spPr>
        <p:txBody>
          <a:bodyPr/>
          <a:lstStyle/>
          <a:p>
            <a:endParaRPr lang="de-DE"/>
          </a:p>
        </p:txBody>
      </p:sp>
      <p:sp>
        <p:nvSpPr>
          <p:cNvPr id="12" name="Text 10"/>
          <p:cNvSpPr/>
          <p:nvPr/>
        </p:nvSpPr>
        <p:spPr>
          <a:xfrm>
            <a:off x="5328858" y="1899766"/>
            <a:ext cx="1585083"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63E6A0"/>
                </a:solidFill>
                <a:latin typeface="Space Grotesk" pitchFamily="34" charset="0"/>
                <a:ea typeface="Space Grotesk" pitchFamily="34" charset="-122"/>
                <a:cs typeface="Space Grotesk" pitchFamily="34" charset="-120"/>
              </a:rPr>
              <a:t>3</a:t>
            </a:r>
            <a:endParaRPr lang="en-US" sz="2400" dirty="0"/>
          </a:p>
        </p:txBody>
      </p:sp>
      <p:sp>
        <p:nvSpPr>
          <p:cNvPr id="13" name="Text 11"/>
          <p:cNvSpPr/>
          <p:nvPr/>
        </p:nvSpPr>
        <p:spPr>
          <a:xfrm>
            <a:off x="5328858" y="2427973"/>
            <a:ext cx="15850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2EC"/>
                </a:solidFill>
                <a:latin typeface="Inter" pitchFamily="34" charset="0"/>
                <a:ea typeface="Inter" pitchFamily="34" charset="-122"/>
                <a:cs typeface="Inter" pitchFamily="34" charset="-120"/>
              </a:rPr>
              <a:t>Inject the fault</a:t>
            </a:r>
            <a:endParaRPr lang="en-US" sz="1400" dirty="0"/>
          </a:p>
        </p:txBody>
      </p:sp>
      <p:sp>
        <p:nvSpPr>
          <p:cNvPr id="14" name="Text 12"/>
          <p:cNvSpPr/>
          <p:nvPr/>
        </p:nvSpPr>
        <p:spPr>
          <a:xfrm>
            <a:off x="5328858" y="2742856"/>
            <a:ext cx="1585083" cy="688362"/>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9AA3B0"/>
                </a:solidFill>
                <a:latin typeface="Inter" pitchFamily="34" charset="0"/>
                <a:ea typeface="Inter" pitchFamily="34" charset="-122"/>
                <a:cs typeface="Inter" pitchFamily="34" charset="-120"/>
              </a:rPr>
              <a:t>Kill a pod, add latency, fill a disk, drop a zone.</a:t>
            </a:r>
            <a:endParaRPr lang="en-US" sz="1200" dirty="0"/>
          </a:p>
        </p:txBody>
      </p:sp>
      <p:sp>
        <p:nvSpPr>
          <p:cNvPr id="15" name="Shape 13"/>
          <p:cNvSpPr/>
          <p:nvPr/>
        </p:nvSpPr>
        <p:spPr>
          <a:xfrm>
            <a:off x="7244051" y="1671203"/>
            <a:ext cx="1991410" cy="2397486"/>
          </a:xfrm>
          <a:prstGeom prst="roundRect">
            <a:avLst>
              <a:gd name="adj" fmla="val 5102"/>
            </a:avLst>
          </a:prstGeom>
          <a:solidFill>
            <a:srgbClr val="1C2028"/>
          </a:solidFill>
          <a:ln/>
        </p:spPr>
        <p:txBody>
          <a:bodyPr/>
          <a:lstStyle/>
          <a:p>
            <a:endParaRPr lang="de-DE"/>
          </a:p>
        </p:txBody>
      </p:sp>
      <p:sp>
        <p:nvSpPr>
          <p:cNvPr id="16" name="Text 14"/>
          <p:cNvSpPr/>
          <p:nvPr/>
        </p:nvSpPr>
        <p:spPr>
          <a:xfrm>
            <a:off x="7472614" y="1899766"/>
            <a:ext cx="1585083"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63E6A0"/>
                </a:solidFill>
                <a:latin typeface="Space Grotesk" pitchFamily="34" charset="0"/>
                <a:ea typeface="Space Grotesk" pitchFamily="34" charset="-122"/>
                <a:cs typeface="Space Grotesk" pitchFamily="34" charset="-120"/>
              </a:rPr>
              <a:t>4</a:t>
            </a:r>
            <a:endParaRPr lang="en-US" sz="2400" dirty="0"/>
          </a:p>
        </p:txBody>
      </p:sp>
      <p:sp>
        <p:nvSpPr>
          <p:cNvPr id="17" name="Text 15"/>
          <p:cNvSpPr/>
          <p:nvPr/>
        </p:nvSpPr>
        <p:spPr>
          <a:xfrm>
            <a:off x="7472614" y="2427973"/>
            <a:ext cx="15850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2EC"/>
                </a:solidFill>
                <a:latin typeface="Inter" pitchFamily="34" charset="0"/>
                <a:ea typeface="Inter" pitchFamily="34" charset="-122"/>
                <a:cs typeface="Inter" pitchFamily="34" charset="-120"/>
              </a:rPr>
              <a:t>Watch the signal</a:t>
            </a:r>
            <a:endParaRPr lang="en-US" sz="1400" dirty="0"/>
          </a:p>
        </p:txBody>
      </p:sp>
      <p:sp>
        <p:nvSpPr>
          <p:cNvPr id="18" name="Text 16"/>
          <p:cNvSpPr/>
          <p:nvPr/>
        </p:nvSpPr>
        <p:spPr>
          <a:xfrm>
            <a:off x="7472614" y="2742856"/>
            <a:ext cx="1585083" cy="688362"/>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9AA3B0"/>
                </a:solidFill>
                <a:latin typeface="Inter" pitchFamily="34" charset="0"/>
                <a:ea typeface="Inter" pitchFamily="34" charset="-122"/>
                <a:cs typeface="Inter" pitchFamily="34" charset="-120"/>
              </a:rPr>
              <a:t>Compare against steady state. Abort if it moves too far.</a:t>
            </a:r>
            <a:endParaRPr lang="en-US" sz="1200" dirty="0"/>
          </a:p>
        </p:txBody>
      </p:sp>
      <p:sp>
        <p:nvSpPr>
          <p:cNvPr id="19" name="Shape 17"/>
          <p:cNvSpPr/>
          <p:nvPr/>
        </p:nvSpPr>
        <p:spPr>
          <a:xfrm>
            <a:off x="9387807" y="1671203"/>
            <a:ext cx="1991410" cy="2397486"/>
          </a:xfrm>
          <a:prstGeom prst="roundRect">
            <a:avLst>
              <a:gd name="adj" fmla="val 5102"/>
            </a:avLst>
          </a:prstGeom>
          <a:solidFill>
            <a:srgbClr val="1C2028"/>
          </a:solidFill>
          <a:ln/>
        </p:spPr>
        <p:txBody>
          <a:bodyPr/>
          <a:lstStyle/>
          <a:p>
            <a:endParaRPr lang="de-DE"/>
          </a:p>
        </p:txBody>
      </p:sp>
      <p:sp>
        <p:nvSpPr>
          <p:cNvPr id="20" name="Text 18"/>
          <p:cNvSpPr/>
          <p:nvPr/>
        </p:nvSpPr>
        <p:spPr>
          <a:xfrm>
            <a:off x="9616371" y="1899766"/>
            <a:ext cx="1585083"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63E6A0"/>
                </a:solidFill>
                <a:latin typeface="Space Grotesk" pitchFamily="34" charset="0"/>
                <a:ea typeface="Space Grotesk" pitchFamily="34" charset="-122"/>
                <a:cs typeface="Space Grotesk" pitchFamily="34" charset="-120"/>
              </a:rPr>
              <a:t>5</a:t>
            </a:r>
            <a:endParaRPr lang="en-US" sz="2400" dirty="0"/>
          </a:p>
        </p:txBody>
      </p:sp>
      <p:sp>
        <p:nvSpPr>
          <p:cNvPr id="21" name="Text 19"/>
          <p:cNvSpPr/>
          <p:nvPr/>
        </p:nvSpPr>
        <p:spPr>
          <a:xfrm>
            <a:off x="9616371" y="2427973"/>
            <a:ext cx="15850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4F2EC"/>
                </a:solidFill>
                <a:latin typeface="Inter" pitchFamily="34" charset="0"/>
                <a:ea typeface="Inter" pitchFamily="34" charset="-122"/>
                <a:cs typeface="Inter" pitchFamily="34" charset="-120"/>
              </a:rPr>
              <a:t>Fix and repeat</a:t>
            </a:r>
            <a:endParaRPr lang="en-US" sz="1400" dirty="0"/>
          </a:p>
        </p:txBody>
      </p:sp>
      <p:sp>
        <p:nvSpPr>
          <p:cNvPr id="22" name="Text 20"/>
          <p:cNvSpPr/>
          <p:nvPr/>
        </p:nvSpPr>
        <p:spPr>
          <a:xfrm>
            <a:off x="9616371" y="2742856"/>
            <a:ext cx="1585083" cy="688362"/>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9AA3B0"/>
                </a:solidFill>
                <a:latin typeface="Inter" pitchFamily="34" charset="0"/>
                <a:ea typeface="Inter" pitchFamily="34" charset="-122"/>
                <a:cs typeface="Inter" pitchFamily="34" charset="-120"/>
              </a:rPr>
              <a:t>A refuted hypothesis is the win. Fix it, then re-run to prove it.</a:t>
            </a:r>
            <a:endParaRPr lang="en-US" sz="1200" dirty="0"/>
          </a:p>
        </p:txBody>
      </p:sp>
      <p:sp>
        <p:nvSpPr>
          <p:cNvPr id="23" name="Text 21"/>
          <p:cNvSpPr/>
          <p:nvPr/>
        </p:nvSpPr>
        <p:spPr>
          <a:xfrm>
            <a:off x="10617218" y="6238242"/>
            <a:ext cx="8128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775"/>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528259"/>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E24"/>
                </a:solidFill>
                <a:latin typeface="Space Grotesk" pitchFamily="34" charset="0"/>
                <a:ea typeface="Space Grotesk" pitchFamily="34" charset="-122"/>
                <a:cs typeface="Space Grotesk" pitchFamily="34" charset="-120"/>
              </a:rPr>
              <a:t>Rules of engagement</a:t>
            </a:r>
            <a:endParaRPr lang="en-US" sz="3600" dirty="0"/>
          </a:p>
        </p:txBody>
      </p:sp>
      <p:sp>
        <p:nvSpPr>
          <p:cNvPr id="3" name="Shape 1"/>
          <p:cNvSpPr/>
          <p:nvPr/>
        </p:nvSpPr>
        <p:spPr>
          <a:xfrm>
            <a:off x="815957" y="1648941"/>
            <a:ext cx="3380347" cy="1290980"/>
          </a:xfrm>
          <a:prstGeom prst="roundRect">
            <a:avLst>
              <a:gd name="adj" fmla="val 7624"/>
            </a:avLst>
          </a:prstGeom>
          <a:solidFill>
            <a:srgbClr val="FFFFFF"/>
          </a:solidFill>
          <a:ln w="6350">
            <a:solidFill>
              <a:srgbClr val="DDD9CF"/>
            </a:solidFill>
            <a:prstDash val="solid"/>
          </a:ln>
        </p:spPr>
        <p:txBody>
          <a:bodyPr/>
          <a:lstStyle/>
          <a:p>
            <a:endParaRPr lang="de-DE"/>
          </a:p>
        </p:txBody>
      </p:sp>
      <p:sp>
        <p:nvSpPr>
          <p:cNvPr id="4" name="Text 2"/>
          <p:cNvSpPr/>
          <p:nvPr/>
        </p:nvSpPr>
        <p:spPr>
          <a:xfrm>
            <a:off x="1072555" y="1905540"/>
            <a:ext cx="2953166"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1E24"/>
                </a:solidFill>
                <a:latin typeface="Inter" pitchFamily="34" charset="0"/>
                <a:ea typeface="Inter" pitchFamily="34" charset="-122"/>
                <a:cs typeface="Inter" pitchFamily="34" charset="-120"/>
              </a:rPr>
              <a:t>Start where it is safe</a:t>
            </a:r>
            <a:endParaRPr lang="en-US" sz="1500" dirty="0"/>
          </a:p>
        </p:txBody>
      </p:sp>
      <p:sp>
        <p:nvSpPr>
          <p:cNvPr id="5" name="Text 3"/>
          <p:cNvSpPr/>
          <p:nvPr/>
        </p:nvSpPr>
        <p:spPr>
          <a:xfrm>
            <a:off x="1072555" y="2222950"/>
            <a:ext cx="2953166" cy="485775"/>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4B515B"/>
                </a:solidFill>
                <a:latin typeface="Inter" pitchFamily="34" charset="0"/>
                <a:ea typeface="Inter" pitchFamily="34" charset="-122"/>
                <a:cs typeface="Inter" pitchFamily="34" charset="-120"/>
              </a:rPr>
              <a:t>Dev, then staging, then production. Earn the right to move up.</a:t>
            </a:r>
            <a:endParaRPr lang="en-US" sz="1250" dirty="0"/>
          </a:p>
        </p:txBody>
      </p:sp>
      <p:sp>
        <p:nvSpPr>
          <p:cNvPr id="6" name="Shape 4"/>
          <p:cNvSpPr/>
          <p:nvPr/>
        </p:nvSpPr>
        <p:spPr>
          <a:xfrm>
            <a:off x="4405781" y="1648941"/>
            <a:ext cx="3380347" cy="1290980"/>
          </a:xfrm>
          <a:prstGeom prst="roundRect">
            <a:avLst>
              <a:gd name="adj" fmla="val 7624"/>
            </a:avLst>
          </a:prstGeom>
          <a:solidFill>
            <a:srgbClr val="FFFFFF"/>
          </a:solidFill>
          <a:ln w="6350">
            <a:solidFill>
              <a:srgbClr val="DDD9CF"/>
            </a:solidFill>
            <a:prstDash val="solid"/>
          </a:ln>
        </p:spPr>
        <p:txBody>
          <a:bodyPr/>
          <a:lstStyle/>
          <a:p>
            <a:endParaRPr lang="de-DE"/>
          </a:p>
        </p:txBody>
      </p:sp>
      <p:sp>
        <p:nvSpPr>
          <p:cNvPr id="7" name="Text 5"/>
          <p:cNvSpPr/>
          <p:nvPr/>
        </p:nvSpPr>
        <p:spPr>
          <a:xfrm>
            <a:off x="4662379" y="1905540"/>
            <a:ext cx="2953166"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1E24"/>
                </a:solidFill>
                <a:latin typeface="Inter" pitchFamily="34" charset="0"/>
                <a:ea typeface="Inter" pitchFamily="34" charset="-122"/>
                <a:cs typeface="Inter" pitchFamily="34" charset="-120"/>
              </a:rPr>
              <a:t>Announce the early ones</a:t>
            </a:r>
            <a:endParaRPr lang="en-US" sz="1500" dirty="0"/>
          </a:p>
        </p:txBody>
      </p:sp>
      <p:sp>
        <p:nvSpPr>
          <p:cNvPr id="8" name="Text 6"/>
          <p:cNvSpPr/>
          <p:nvPr/>
        </p:nvSpPr>
        <p:spPr>
          <a:xfrm>
            <a:off x="4662379" y="2222950"/>
            <a:ext cx="2953166" cy="485775"/>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4B515B"/>
                </a:solidFill>
                <a:latin typeface="Inter" pitchFamily="34" charset="0"/>
                <a:ea typeface="Inter" pitchFamily="34" charset="-122"/>
                <a:cs typeface="Inter" pitchFamily="34" charset="-120"/>
              </a:rPr>
              <a:t>Surprise experiments create incidents and enemies. Both are avoidable.</a:t>
            </a:r>
            <a:endParaRPr lang="en-US" sz="1250" dirty="0"/>
          </a:p>
        </p:txBody>
      </p:sp>
      <p:sp>
        <p:nvSpPr>
          <p:cNvPr id="9" name="Shape 7"/>
          <p:cNvSpPr/>
          <p:nvPr/>
        </p:nvSpPr>
        <p:spPr>
          <a:xfrm>
            <a:off x="7995606" y="1648941"/>
            <a:ext cx="3380347" cy="1290980"/>
          </a:xfrm>
          <a:prstGeom prst="roundRect">
            <a:avLst>
              <a:gd name="adj" fmla="val 7624"/>
            </a:avLst>
          </a:prstGeom>
          <a:solidFill>
            <a:srgbClr val="FFFFFF"/>
          </a:solidFill>
          <a:ln w="6350">
            <a:solidFill>
              <a:srgbClr val="DDD9CF"/>
            </a:solidFill>
            <a:prstDash val="solid"/>
          </a:ln>
        </p:spPr>
        <p:txBody>
          <a:bodyPr/>
          <a:lstStyle/>
          <a:p>
            <a:endParaRPr lang="de-DE"/>
          </a:p>
        </p:txBody>
      </p:sp>
      <p:sp>
        <p:nvSpPr>
          <p:cNvPr id="10" name="Text 8"/>
          <p:cNvSpPr/>
          <p:nvPr/>
        </p:nvSpPr>
        <p:spPr>
          <a:xfrm>
            <a:off x="8252203" y="1905540"/>
            <a:ext cx="2953166"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1E24"/>
                </a:solidFill>
                <a:latin typeface="Inter" pitchFamily="34" charset="0"/>
                <a:ea typeface="Inter" pitchFamily="34" charset="-122"/>
                <a:cs typeface="Inter" pitchFamily="34" charset="-120"/>
              </a:rPr>
              <a:t>One variable at a time</a:t>
            </a:r>
            <a:endParaRPr lang="en-US" sz="1500" dirty="0"/>
          </a:p>
        </p:txBody>
      </p:sp>
      <p:sp>
        <p:nvSpPr>
          <p:cNvPr id="11" name="Text 9"/>
          <p:cNvSpPr/>
          <p:nvPr/>
        </p:nvSpPr>
        <p:spPr>
          <a:xfrm>
            <a:off x="8252203" y="2222950"/>
            <a:ext cx="2953166" cy="485775"/>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4B515B"/>
                </a:solidFill>
                <a:latin typeface="Inter" pitchFamily="34" charset="0"/>
                <a:ea typeface="Inter" pitchFamily="34" charset="-122"/>
                <a:cs typeface="Inter" pitchFamily="34" charset="-120"/>
              </a:rPr>
              <a:t>Two faults at once and you cannot attribute what you observe.</a:t>
            </a:r>
            <a:endParaRPr lang="en-US" sz="1250" dirty="0"/>
          </a:p>
        </p:txBody>
      </p:sp>
      <p:sp>
        <p:nvSpPr>
          <p:cNvPr id="12" name="Shape 10"/>
          <p:cNvSpPr/>
          <p:nvPr/>
        </p:nvSpPr>
        <p:spPr>
          <a:xfrm>
            <a:off x="815957" y="3149402"/>
            <a:ext cx="3380347" cy="1290980"/>
          </a:xfrm>
          <a:prstGeom prst="roundRect">
            <a:avLst>
              <a:gd name="adj" fmla="val 7624"/>
            </a:avLst>
          </a:prstGeom>
          <a:solidFill>
            <a:srgbClr val="FFFFFF"/>
          </a:solidFill>
          <a:ln w="6350">
            <a:solidFill>
              <a:srgbClr val="DDD9CF"/>
            </a:solidFill>
            <a:prstDash val="solid"/>
          </a:ln>
        </p:spPr>
        <p:txBody>
          <a:bodyPr/>
          <a:lstStyle/>
          <a:p>
            <a:endParaRPr lang="de-DE"/>
          </a:p>
        </p:txBody>
      </p:sp>
      <p:sp>
        <p:nvSpPr>
          <p:cNvPr id="13" name="Text 11"/>
          <p:cNvSpPr/>
          <p:nvPr/>
        </p:nvSpPr>
        <p:spPr>
          <a:xfrm>
            <a:off x="1072555" y="3405997"/>
            <a:ext cx="2953166"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1E24"/>
                </a:solidFill>
                <a:latin typeface="Inter" pitchFamily="34" charset="0"/>
                <a:ea typeface="Inter" pitchFamily="34" charset="-122"/>
                <a:cs typeface="Inter" pitchFamily="34" charset="-120"/>
              </a:rPr>
              <a:t>Keep an abort switch</a:t>
            </a:r>
            <a:endParaRPr lang="en-US" sz="1500" dirty="0"/>
          </a:p>
        </p:txBody>
      </p:sp>
      <p:sp>
        <p:nvSpPr>
          <p:cNvPr id="14" name="Text 12"/>
          <p:cNvSpPr/>
          <p:nvPr/>
        </p:nvSpPr>
        <p:spPr>
          <a:xfrm>
            <a:off x="1072555" y="3723407"/>
            <a:ext cx="2953166" cy="485775"/>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4B515B"/>
                </a:solidFill>
                <a:latin typeface="Inter" pitchFamily="34" charset="0"/>
                <a:ea typeface="Inter" pitchFamily="34" charset="-122"/>
                <a:cs typeface="Inter" pitchFamily="34" charset="-120"/>
              </a:rPr>
              <a:t>Know how to stop it and restore before you start it.</a:t>
            </a:r>
            <a:endParaRPr lang="en-US" sz="1250" dirty="0"/>
          </a:p>
        </p:txBody>
      </p:sp>
      <p:sp>
        <p:nvSpPr>
          <p:cNvPr id="15" name="Shape 13"/>
          <p:cNvSpPr/>
          <p:nvPr/>
        </p:nvSpPr>
        <p:spPr>
          <a:xfrm>
            <a:off x="4405781" y="3149402"/>
            <a:ext cx="3380347" cy="1290980"/>
          </a:xfrm>
          <a:prstGeom prst="roundRect">
            <a:avLst>
              <a:gd name="adj" fmla="val 7624"/>
            </a:avLst>
          </a:prstGeom>
          <a:solidFill>
            <a:srgbClr val="FFFFFF"/>
          </a:solidFill>
          <a:ln w="6350">
            <a:solidFill>
              <a:srgbClr val="DDD9CF"/>
            </a:solidFill>
            <a:prstDash val="solid"/>
          </a:ln>
        </p:spPr>
        <p:txBody>
          <a:bodyPr/>
          <a:lstStyle/>
          <a:p>
            <a:endParaRPr lang="de-DE"/>
          </a:p>
        </p:txBody>
      </p:sp>
      <p:sp>
        <p:nvSpPr>
          <p:cNvPr id="16" name="Text 14"/>
          <p:cNvSpPr/>
          <p:nvPr/>
        </p:nvSpPr>
        <p:spPr>
          <a:xfrm>
            <a:off x="4662379" y="3405997"/>
            <a:ext cx="2953166"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1E24"/>
                </a:solidFill>
                <a:latin typeface="Inter" pitchFamily="34" charset="0"/>
                <a:ea typeface="Inter" pitchFamily="34" charset="-122"/>
                <a:cs typeface="Inter" pitchFamily="34" charset="-120"/>
              </a:rPr>
              <a:t>Business hours only</a:t>
            </a:r>
            <a:endParaRPr lang="en-US" sz="1500" dirty="0"/>
          </a:p>
        </p:txBody>
      </p:sp>
      <p:sp>
        <p:nvSpPr>
          <p:cNvPr id="17" name="Text 15"/>
          <p:cNvSpPr/>
          <p:nvPr/>
        </p:nvSpPr>
        <p:spPr>
          <a:xfrm>
            <a:off x="4662379" y="3723407"/>
            <a:ext cx="2953166" cy="485775"/>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4B515B"/>
                </a:solidFill>
                <a:latin typeface="Inter" pitchFamily="34" charset="0"/>
                <a:ea typeface="Inter" pitchFamily="34" charset="-122"/>
                <a:cs typeface="Inter" pitchFamily="34" charset="-120"/>
              </a:rPr>
              <a:t>Run it when the people who can fix what you find are awake.</a:t>
            </a:r>
            <a:endParaRPr lang="en-US" sz="1250" dirty="0"/>
          </a:p>
        </p:txBody>
      </p:sp>
      <p:sp>
        <p:nvSpPr>
          <p:cNvPr id="18" name="Shape 16"/>
          <p:cNvSpPr/>
          <p:nvPr/>
        </p:nvSpPr>
        <p:spPr>
          <a:xfrm>
            <a:off x="7995606" y="3149402"/>
            <a:ext cx="3380347" cy="1290980"/>
          </a:xfrm>
          <a:prstGeom prst="roundRect">
            <a:avLst>
              <a:gd name="adj" fmla="val 7624"/>
            </a:avLst>
          </a:prstGeom>
          <a:solidFill>
            <a:srgbClr val="FFFFFF"/>
          </a:solidFill>
          <a:ln w="6350">
            <a:solidFill>
              <a:srgbClr val="DDD9CF"/>
            </a:solidFill>
            <a:prstDash val="solid"/>
          </a:ln>
        </p:spPr>
        <p:txBody>
          <a:bodyPr/>
          <a:lstStyle/>
          <a:p>
            <a:endParaRPr lang="de-DE"/>
          </a:p>
        </p:txBody>
      </p:sp>
      <p:sp>
        <p:nvSpPr>
          <p:cNvPr id="19" name="Text 17"/>
          <p:cNvSpPr/>
          <p:nvPr/>
        </p:nvSpPr>
        <p:spPr>
          <a:xfrm>
            <a:off x="8252203" y="3405997"/>
            <a:ext cx="2953166"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1E24"/>
                </a:solidFill>
                <a:latin typeface="Inter" pitchFamily="34" charset="0"/>
                <a:ea typeface="Inter" pitchFamily="34" charset="-122"/>
                <a:cs typeface="Inter" pitchFamily="34" charset="-120"/>
              </a:rPr>
              <a:t>Measure, or skip it</a:t>
            </a:r>
            <a:endParaRPr lang="en-US" sz="1500" dirty="0"/>
          </a:p>
        </p:txBody>
      </p:sp>
      <p:sp>
        <p:nvSpPr>
          <p:cNvPr id="20" name="Text 18"/>
          <p:cNvSpPr/>
          <p:nvPr/>
        </p:nvSpPr>
        <p:spPr>
          <a:xfrm>
            <a:off x="8252203" y="3723407"/>
            <a:ext cx="2953166" cy="485775"/>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4B515B"/>
                </a:solidFill>
                <a:latin typeface="Inter" pitchFamily="34" charset="0"/>
                <a:ea typeface="Inter" pitchFamily="34" charset="-122"/>
                <a:cs typeface="Inter" pitchFamily="34" charset="-120"/>
              </a:rPr>
              <a:t>Without a metric you learn nothing and prove nothing.</a:t>
            </a:r>
            <a:endParaRPr lang="en-US" sz="1250" dirty="0"/>
          </a:p>
        </p:txBody>
      </p:sp>
      <p:sp>
        <p:nvSpPr>
          <p:cNvPr id="21" name="Text 19"/>
          <p:cNvSpPr/>
          <p:nvPr/>
        </p:nvSpPr>
        <p:spPr>
          <a:xfrm>
            <a:off x="10617218" y="6238242"/>
            <a:ext cx="8128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8089"/>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71D"/>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528259"/>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4F2EC"/>
                </a:solidFill>
                <a:latin typeface="Space Grotesk" pitchFamily="34" charset="0"/>
                <a:ea typeface="Space Grotesk" pitchFamily="34" charset="-122"/>
                <a:cs typeface="Space Grotesk" pitchFamily="34" charset="-120"/>
              </a:rPr>
              <a:t>What it catches first</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782" y="1620422"/>
          <a:ext cx="10566346" cy="3955759"/>
        </p:xfrm>
        <a:graphic>
          <a:graphicData uri="http://schemas.openxmlformats.org/drawingml/2006/table">
            <a:tbl>
              <a:tblPr/>
              <a:tblGrid>
                <a:gridCol w="5283173">
                  <a:extLst>
                    <a:ext uri="{9D8B030D-6E8A-4147-A177-3AD203B41FA5}">
                      <a16:colId xmlns:a16="http://schemas.microsoft.com/office/drawing/2014/main" val="20000"/>
                    </a:ext>
                  </a:extLst>
                </a:gridCol>
                <a:gridCol w="5283173">
                  <a:extLst>
                    <a:ext uri="{9D8B030D-6E8A-4147-A177-3AD203B41FA5}">
                      <a16:colId xmlns:a16="http://schemas.microsoft.com/office/drawing/2014/main" val="20001"/>
                    </a:ext>
                  </a:extLst>
                </a:gridCol>
              </a:tblGrid>
              <a:tr h="530820">
                <a:tc>
                  <a:txBody>
                    <a:bodyPr/>
                    <a:lstStyle/>
                    <a:p>
                      <a:pPr marL="0" indent="0">
                        <a:lnSpc>
                          <a:spcPts val="1890"/>
                        </a:lnSpc>
                        <a:buNone/>
                      </a:pPr>
                      <a:r>
                        <a:rPr lang="en-US" sz="1350" b="1" dirty="0">
                          <a:solidFill>
                            <a:srgbClr val="63E6A0"/>
                          </a:solidFill>
                          <a:latin typeface="Inter" pitchFamily="34" charset="0"/>
                          <a:ea typeface="Inter" pitchFamily="34" charset="-122"/>
                          <a:cs typeface="Inter" pitchFamily="34" charset="-120"/>
                        </a:rPr>
                        <a:t>The weakness</a:t>
                      </a:r>
                      <a:endParaRPr lang="en-US" sz="1350" dirty="0">
                        <a:latin typeface="Inter" charset="0"/>
                        <a:ea typeface="Inter" charset="0"/>
                        <a:cs typeface="Inter" charset="0"/>
                      </a:endParaRPr>
                    </a:p>
                  </a:txBody>
                  <a:tcPr marL="152400" marR="152400" marT="139700" marB="139700">
                    <a:lnL w="12700" cap="flat" cmpd="sng" algn="ctr">
                      <a:solidFill>
                        <a:srgbClr val="45474B"/>
                      </a:solidFill>
                      <a:prstDash val="solid"/>
                      <a:round/>
                      <a:headEnd type="none" w="med" len="med"/>
                      <a:tailEnd type="none" w="med" len="med"/>
                    </a:lnL>
                    <a:lnR w="12700" cap="flat" cmpd="sng" algn="ctr">
                      <a:solidFill>
                        <a:srgbClr val="45474B"/>
                      </a:solidFill>
                      <a:prstDash val="solid"/>
                      <a:round/>
                      <a:headEnd type="none" w="med" len="med"/>
                      <a:tailEnd type="none" w="med" len="med"/>
                    </a:lnR>
                    <a:lnT w="12700" cap="flat" cmpd="sng" algn="ctr">
                      <a:solidFill>
                        <a:srgbClr val="45474B"/>
                      </a:solidFill>
                      <a:prstDash val="solid"/>
                      <a:round/>
                      <a:headEnd type="none" w="med" len="med"/>
                      <a:tailEnd type="none" w="med" len="med"/>
                    </a:lnT>
                    <a:lnB w="12700" cap="flat" cmpd="sng" algn="ctr">
                      <a:solidFill>
                        <a:srgbClr val="45474B"/>
                      </a:solidFill>
                      <a:prstDash val="solid"/>
                      <a:round/>
                      <a:headEnd type="none" w="med" len="med"/>
                      <a:tailEnd type="none" w="med" len="med"/>
                    </a:lnB>
                    <a:solidFill>
                      <a:srgbClr val="26292E"/>
                    </a:solidFill>
                  </a:tcPr>
                </a:tc>
                <a:tc>
                  <a:txBody>
                    <a:bodyPr/>
                    <a:lstStyle/>
                    <a:p>
                      <a:pPr marL="0" indent="0">
                        <a:lnSpc>
                          <a:spcPts val="1890"/>
                        </a:lnSpc>
                        <a:buNone/>
                      </a:pPr>
                      <a:r>
                        <a:rPr lang="en-US" sz="1350" b="1" dirty="0">
                          <a:solidFill>
                            <a:srgbClr val="63E6A0"/>
                          </a:solidFill>
                          <a:latin typeface="Inter" pitchFamily="34" charset="0"/>
                          <a:ea typeface="Inter" pitchFamily="34" charset="-122"/>
                          <a:cs typeface="Inter" pitchFamily="34" charset="-120"/>
                        </a:rPr>
                        <a:t>What it costs you on a bad night</a:t>
                      </a:r>
                      <a:endParaRPr lang="en-US" sz="1350" dirty="0">
                        <a:latin typeface="Inter" charset="0"/>
                        <a:ea typeface="Inter" charset="0"/>
                        <a:cs typeface="Inter" charset="0"/>
                      </a:endParaRPr>
                    </a:p>
                  </a:txBody>
                  <a:tcPr marL="152400" marR="152400" marT="139700" marB="139700">
                    <a:lnL w="12700" cap="flat" cmpd="sng" algn="ctr">
                      <a:solidFill>
                        <a:srgbClr val="45474B"/>
                      </a:solidFill>
                      <a:prstDash val="solid"/>
                      <a:round/>
                      <a:headEnd type="none" w="med" len="med"/>
                      <a:tailEnd type="none" w="med" len="med"/>
                    </a:lnL>
                    <a:lnR w="12700" cap="flat" cmpd="sng" algn="ctr">
                      <a:solidFill>
                        <a:srgbClr val="45474B"/>
                      </a:solidFill>
                      <a:prstDash val="solid"/>
                      <a:round/>
                      <a:headEnd type="none" w="med" len="med"/>
                      <a:tailEnd type="none" w="med" len="med"/>
                    </a:lnR>
                    <a:lnT w="12700" cap="flat" cmpd="sng" algn="ctr">
                      <a:solidFill>
                        <a:srgbClr val="45474B"/>
                      </a:solidFill>
                      <a:prstDash val="solid"/>
                      <a:round/>
                      <a:headEnd type="none" w="med" len="med"/>
                      <a:tailEnd type="none" w="med" len="med"/>
                    </a:lnT>
                    <a:lnB w="12700" cap="flat" cmpd="sng" algn="ctr">
                      <a:solidFill>
                        <a:srgbClr val="45474B"/>
                      </a:solidFill>
                      <a:prstDash val="solid"/>
                      <a:round/>
                      <a:headEnd type="none" w="med" len="med"/>
                      <a:tailEnd type="none" w="med" len="med"/>
                    </a:lnB>
                    <a:solidFill>
                      <a:srgbClr val="26292E"/>
                    </a:solidFill>
                  </a:tcPr>
                </a:tc>
                <a:extLst>
                  <a:ext uri="{0D108BD9-81ED-4DB2-BD59-A6C34878D82A}">
                    <a16:rowId xmlns:a16="http://schemas.microsoft.com/office/drawing/2014/main" val="10000"/>
                  </a:ext>
                </a:extLst>
              </a:tr>
              <a:tr h="530820">
                <a:tc>
                  <a:txBody>
                    <a:bodyPr/>
                    <a:lstStyle/>
                    <a:p>
                      <a:pPr marL="0" indent="0">
                        <a:lnSpc>
                          <a:spcPts val="1890"/>
                        </a:lnSpc>
                        <a:buNone/>
                      </a:pPr>
                      <a:r>
                        <a:rPr lang="en-US" sz="1350" dirty="0">
                          <a:solidFill>
                            <a:srgbClr val="F4F2EC"/>
                          </a:solidFill>
                          <a:latin typeface="Inter" pitchFamily="34" charset="0"/>
                          <a:ea typeface="Inter" pitchFamily="34" charset="-122"/>
                          <a:cs typeface="Inter" pitchFamily="34" charset="-120"/>
                        </a:rPr>
                        <a:t>A single-replica workload</a:t>
                      </a:r>
                      <a:endParaRPr lang="en-US" sz="1350" dirty="0">
                        <a:latin typeface="Inter" charset="0"/>
                        <a:ea typeface="Inter" charset="0"/>
                        <a:cs typeface="Inter" charset="0"/>
                      </a:endParaRPr>
                    </a:p>
                  </a:txBody>
                  <a:tcPr marL="152400" marR="152400" marT="139700" marB="139700">
                    <a:lnL w="12700" cap="flat" cmpd="sng" algn="ctr">
                      <a:solidFill>
                        <a:srgbClr val="45474B"/>
                      </a:solidFill>
                      <a:prstDash val="solid"/>
                      <a:round/>
                      <a:headEnd type="none" w="med" len="med"/>
                      <a:tailEnd type="none" w="med" len="med"/>
                    </a:lnL>
                    <a:lnR w="12700" cap="flat" cmpd="sng" algn="ctr">
                      <a:solidFill>
                        <a:srgbClr val="45474B"/>
                      </a:solidFill>
                      <a:prstDash val="solid"/>
                      <a:round/>
                      <a:headEnd type="none" w="med" len="med"/>
                      <a:tailEnd type="none" w="med" len="med"/>
                    </a:lnR>
                    <a:lnT w="12700" cap="flat" cmpd="sng" algn="ctr">
                      <a:solidFill>
                        <a:srgbClr val="45474B"/>
                      </a:solidFill>
                      <a:prstDash val="solid"/>
                      <a:round/>
                      <a:headEnd type="none" w="med" len="med"/>
                      <a:tailEnd type="none" w="med" len="med"/>
                    </a:lnT>
                    <a:lnB w="12700" cap="flat" cmpd="sng" algn="ctr">
                      <a:solidFill>
                        <a:srgbClr val="45474B"/>
                      </a:solidFill>
                      <a:prstDash val="solid"/>
                      <a:round/>
                      <a:headEnd type="none" w="med" len="med"/>
                      <a:tailEnd type="none" w="med" len="med"/>
                    </a:lnB>
                  </a:tcPr>
                </a:tc>
                <a:tc>
                  <a:txBody>
                    <a:bodyPr/>
                    <a:lstStyle/>
                    <a:p>
                      <a:pPr marL="0" indent="0">
                        <a:lnSpc>
                          <a:spcPts val="1890"/>
                        </a:lnSpc>
                        <a:buNone/>
                      </a:pPr>
                      <a:r>
                        <a:rPr lang="en-US" sz="1350" dirty="0">
                          <a:solidFill>
                            <a:srgbClr val="9AA3B0"/>
                          </a:solidFill>
                          <a:latin typeface="Inter" pitchFamily="34" charset="0"/>
                          <a:ea typeface="Inter" pitchFamily="34" charset="-122"/>
                          <a:cs typeface="Inter" pitchFamily="34" charset="-120"/>
                        </a:rPr>
                        <a:t>A routine node drain becomes a full outage</a:t>
                      </a:r>
                      <a:endParaRPr lang="en-US" sz="1350" dirty="0">
                        <a:latin typeface="Inter" charset="0"/>
                        <a:ea typeface="Inter" charset="0"/>
                        <a:cs typeface="Inter" charset="0"/>
                      </a:endParaRPr>
                    </a:p>
                  </a:txBody>
                  <a:tcPr marL="152400" marR="152400" marT="139700" marB="139700">
                    <a:lnL w="12700" cap="flat" cmpd="sng" algn="ctr">
                      <a:solidFill>
                        <a:srgbClr val="45474B"/>
                      </a:solidFill>
                      <a:prstDash val="solid"/>
                      <a:round/>
                      <a:headEnd type="none" w="med" len="med"/>
                      <a:tailEnd type="none" w="med" len="med"/>
                    </a:lnL>
                    <a:lnR w="12700" cap="flat" cmpd="sng" algn="ctr">
                      <a:solidFill>
                        <a:srgbClr val="45474B"/>
                      </a:solidFill>
                      <a:prstDash val="solid"/>
                      <a:round/>
                      <a:headEnd type="none" w="med" len="med"/>
                      <a:tailEnd type="none" w="med" len="med"/>
                    </a:lnR>
                    <a:lnT w="12700" cap="flat" cmpd="sng" algn="ctr">
                      <a:solidFill>
                        <a:srgbClr val="45474B"/>
                      </a:solidFill>
                      <a:prstDash val="solid"/>
                      <a:round/>
                      <a:headEnd type="none" w="med" len="med"/>
                      <a:tailEnd type="none" w="med" len="med"/>
                    </a:lnT>
                    <a:lnB w="12700" cap="flat" cmpd="sng" algn="ctr">
                      <a:solidFill>
                        <a:srgbClr val="45474B"/>
                      </a:solidFill>
                      <a:prstDash val="solid"/>
                      <a:round/>
                      <a:headEnd type="none" w="med" len="med"/>
                      <a:tailEnd type="none" w="med" len="med"/>
                    </a:lnB>
                  </a:tcPr>
                </a:tc>
                <a:extLst>
                  <a:ext uri="{0D108BD9-81ED-4DB2-BD59-A6C34878D82A}">
                    <a16:rowId xmlns:a16="http://schemas.microsoft.com/office/drawing/2014/main" val="10001"/>
                  </a:ext>
                </a:extLst>
              </a:tr>
              <a:tr h="530820">
                <a:tc>
                  <a:txBody>
                    <a:bodyPr/>
                    <a:lstStyle/>
                    <a:p>
                      <a:pPr marL="0" indent="0">
                        <a:lnSpc>
                          <a:spcPts val="1890"/>
                        </a:lnSpc>
                        <a:buNone/>
                      </a:pPr>
                      <a:r>
                        <a:rPr lang="en-US" sz="1350" dirty="0">
                          <a:solidFill>
                            <a:srgbClr val="F4F2EC"/>
                          </a:solidFill>
                          <a:latin typeface="Inter" pitchFamily="34" charset="0"/>
                          <a:ea typeface="Inter" pitchFamily="34" charset="-122"/>
                          <a:cs typeface="Inter" pitchFamily="34" charset="-120"/>
                        </a:rPr>
                        <a:t>Slow or missing readiness probes</a:t>
                      </a:r>
                      <a:endParaRPr lang="en-US" sz="1350" dirty="0">
                        <a:latin typeface="Inter" charset="0"/>
                        <a:ea typeface="Inter" charset="0"/>
                        <a:cs typeface="Inter" charset="0"/>
                      </a:endParaRPr>
                    </a:p>
                  </a:txBody>
                  <a:tcPr marL="152400" marR="152400" marT="139700" marB="139700">
                    <a:lnL w="12700" cap="flat" cmpd="sng" algn="ctr">
                      <a:solidFill>
                        <a:srgbClr val="45474B"/>
                      </a:solidFill>
                      <a:prstDash val="solid"/>
                      <a:round/>
                      <a:headEnd type="none" w="med" len="med"/>
                      <a:tailEnd type="none" w="med" len="med"/>
                    </a:lnL>
                    <a:lnR w="12700" cap="flat" cmpd="sng" algn="ctr">
                      <a:solidFill>
                        <a:srgbClr val="45474B"/>
                      </a:solidFill>
                      <a:prstDash val="solid"/>
                      <a:round/>
                      <a:headEnd type="none" w="med" len="med"/>
                      <a:tailEnd type="none" w="med" len="med"/>
                    </a:lnR>
                    <a:lnT w="12700" cap="flat" cmpd="sng" algn="ctr">
                      <a:solidFill>
                        <a:srgbClr val="45474B"/>
                      </a:solidFill>
                      <a:prstDash val="solid"/>
                      <a:round/>
                      <a:headEnd type="none" w="med" len="med"/>
                      <a:tailEnd type="none" w="med" len="med"/>
                    </a:lnT>
                    <a:lnB w="12700" cap="flat" cmpd="sng" algn="ctr">
                      <a:solidFill>
                        <a:srgbClr val="45474B"/>
                      </a:solidFill>
                      <a:prstDash val="solid"/>
                      <a:round/>
                      <a:headEnd type="none" w="med" len="med"/>
                      <a:tailEnd type="none" w="med" len="med"/>
                    </a:lnB>
                  </a:tcPr>
                </a:tc>
                <a:tc>
                  <a:txBody>
                    <a:bodyPr/>
                    <a:lstStyle/>
                    <a:p>
                      <a:pPr marL="0" indent="0">
                        <a:lnSpc>
                          <a:spcPts val="1890"/>
                        </a:lnSpc>
                        <a:buNone/>
                      </a:pPr>
                      <a:r>
                        <a:rPr lang="en-US" sz="1350" dirty="0">
                          <a:solidFill>
                            <a:srgbClr val="9AA3B0"/>
                          </a:solidFill>
                          <a:latin typeface="Inter" pitchFamily="34" charset="0"/>
                          <a:ea typeface="Inter" pitchFamily="34" charset="-122"/>
                          <a:cs typeface="Inter" pitchFamily="34" charset="-120"/>
                        </a:rPr>
                        <a:t>Traffic hits cold pods; recovery takes minutes</a:t>
                      </a:r>
                      <a:endParaRPr lang="en-US" sz="1350" dirty="0">
                        <a:latin typeface="Inter" charset="0"/>
                        <a:ea typeface="Inter" charset="0"/>
                        <a:cs typeface="Inter" charset="0"/>
                      </a:endParaRPr>
                    </a:p>
                  </a:txBody>
                  <a:tcPr marL="152400" marR="152400" marT="139700" marB="139700">
                    <a:lnL w="12700" cap="flat" cmpd="sng" algn="ctr">
                      <a:solidFill>
                        <a:srgbClr val="45474B"/>
                      </a:solidFill>
                      <a:prstDash val="solid"/>
                      <a:round/>
                      <a:headEnd type="none" w="med" len="med"/>
                      <a:tailEnd type="none" w="med" len="med"/>
                    </a:lnL>
                    <a:lnR w="12700" cap="flat" cmpd="sng" algn="ctr">
                      <a:solidFill>
                        <a:srgbClr val="45474B"/>
                      </a:solidFill>
                      <a:prstDash val="solid"/>
                      <a:round/>
                      <a:headEnd type="none" w="med" len="med"/>
                      <a:tailEnd type="none" w="med" len="med"/>
                    </a:lnR>
                    <a:lnT w="12700" cap="flat" cmpd="sng" algn="ctr">
                      <a:solidFill>
                        <a:srgbClr val="45474B"/>
                      </a:solidFill>
                      <a:prstDash val="solid"/>
                      <a:round/>
                      <a:headEnd type="none" w="med" len="med"/>
                      <a:tailEnd type="none" w="med" len="med"/>
                    </a:lnT>
                    <a:lnB w="12700" cap="flat" cmpd="sng" algn="ctr">
                      <a:solidFill>
                        <a:srgbClr val="45474B"/>
                      </a:solidFill>
                      <a:prstDash val="solid"/>
                      <a:round/>
                      <a:headEnd type="none" w="med" len="med"/>
                      <a:tailEnd type="none" w="med" len="med"/>
                    </a:lnB>
                  </a:tcPr>
                </a:tc>
                <a:extLst>
                  <a:ext uri="{0D108BD9-81ED-4DB2-BD59-A6C34878D82A}">
                    <a16:rowId xmlns:a16="http://schemas.microsoft.com/office/drawing/2014/main" val="10002"/>
                  </a:ext>
                </a:extLst>
              </a:tr>
              <a:tr h="530820">
                <a:tc>
                  <a:txBody>
                    <a:bodyPr/>
                    <a:lstStyle/>
                    <a:p>
                      <a:pPr marL="0" indent="0">
                        <a:lnSpc>
                          <a:spcPts val="1890"/>
                        </a:lnSpc>
                        <a:buNone/>
                      </a:pPr>
                      <a:r>
                        <a:rPr lang="en-US" sz="1350" dirty="0">
                          <a:solidFill>
                            <a:srgbClr val="F4F2EC"/>
                          </a:solidFill>
                          <a:latin typeface="Inter" pitchFamily="34" charset="0"/>
                          <a:ea typeface="Inter" pitchFamily="34" charset="-122"/>
                          <a:cs typeface="Inter" pitchFamily="34" charset="-120"/>
                        </a:rPr>
                        <a:t>Retries without backoff</a:t>
                      </a:r>
                      <a:endParaRPr lang="en-US" sz="1350" dirty="0">
                        <a:latin typeface="Inter" charset="0"/>
                        <a:ea typeface="Inter" charset="0"/>
                        <a:cs typeface="Inter" charset="0"/>
                      </a:endParaRPr>
                    </a:p>
                  </a:txBody>
                  <a:tcPr marL="152400" marR="152400" marT="139700" marB="139700">
                    <a:lnL w="12700" cap="flat" cmpd="sng" algn="ctr">
                      <a:solidFill>
                        <a:srgbClr val="45474B"/>
                      </a:solidFill>
                      <a:prstDash val="solid"/>
                      <a:round/>
                      <a:headEnd type="none" w="med" len="med"/>
                      <a:tailEnd type="none" w="med" len="med"/>
                    </a:lnL>
                    <a:lnR w="12700" cap="flat" cmpd="sng" algn="ctr">
                      <a:solidFill>
                        <a:srgbClr val="45474B"/>
                      </a:solidFill>
                      <a:prstDash val="solid"/>
                      <a:round/>
                      <a:headEnd type="none" w="med" len="med"/>
                      <a:tailEnd type="none" w="med" len="med"/>
                    </a:lnR>
                    <a:lnT w="12700" cap="flat" cmpd="sng" algn="ctr">
                      <a:solidFill>
                        <a:srgbClr val="45474B"/>
                      </a:solidFill>
                      <a:prstDash val="solid"/>
                      <a:round/>
                      <a:headEnd type="none" w="med" len="med"/>
                      <a:tailEnd type="none" w="med" len="med"/>
                    </a:lnT>
                    <a:lnB w="12700" cap="flat" cmpd="sng" algn="ctr">
                      <a:solidFill>
                        <a:srgbClr val="45474B"/>
                      </a:solidFill>
                      <a:prstDash val="solid"/>
                      <a:round/>
                      <a:headEnd type="none" w="med" len="med"/>
                      <a:tailEnd type="none" w="med" len="med"/>
                    </a:lnB>
                  </a:tcPr>
                </a:tc>
                <a:tc>
                  <a:txBody>
                    <a:bodyPr/>
                    <a:lstStyle/>
                    <a:p>
                      <a:pPr marL="0" indent="0">
                        <a:lnSpc>
                          <a:spcPts val="1890"/>
                        </a:lnSpc>
                        <a:buNone/>
                      </a:pPr>
                      <a:r>
                        <a:rPr lang="en-US" sz="1350" dirty="0">
                          <a:solidFill>
                            <a:srgbClr val="9AA3B0"/>
                          </a:solidFill>
                          <a:latin typeface="Inter" pitchFamily="34" charset="0"/>
                          <a:ea typeface="Inter" pitchFamily="34" charset="-122"/>
                          <a:cs typeface="Inter" pitchFamily="34" charset="-120"/>
                        </a:rPr>
                        <a:t>One slow service turns into a self-inflicted traffic storm</a:t>
                      </a:r>
                      <a:endParaRPr lang="en-US" sz="1350" dirty="0">
                        <a:latin typeface="Inter" charset="0"/>
                        <a:ea typeface="Inter" charset="0"/>
                        <a:cs typeface="Inter" charset="0"/>
                      </a:endParaRPr>
                    </a:p>
                  </a:txBody>
                  <a:tcPr marL="152400" marR="152400" marT="139700" marB="139700">
                    <a:lnL w="12700" cap="flat" cmpd="sng" algn="ctr">
                      <a:solidFill>
                        <a:srgbClr val="45474B"/>
                      </a:solidFill>
                      <a:prstDash val="solid"/>
                      <a:round/>
                      <a:headEnd type="none" w="med" len="med"/>
                      <a:tailEnd type="none" w="med" len="med"/>
                    </a:lnL>
                    <a:lnR w="12700" cap="flat" cmpd="sng" algn="ctr">
                      <a:solidFill>
                        <a:srgbClr val="45474B"/>
                      </a:solidFill>
                      <a:prstDash val="solid"/>
                      <a:round/>
                      <a:headEnd type="none" w="med" len="med"/>
                      <a:tailEnd type="none" w="med" len="med"/>
                    </a:lnR>
                    <a:lnT w="12700" cap="flat" cmpd="sng" algn="ctr">
                      <a:solidFill>
                        <a:srgbClr val="45474B"/>
                      </a:solidFill>
                      <a:prstDash val="solid"/>
                      <a:round/>
                      <a:headEnd type="none" w="med" len="med"/>
                      <a:tailEnd type="none" w="med" len="med"/>
                    </a:lnT>
                    <a:lnB w="12700" cap="flat" cmpd="sng" algn="ctr">
                      <a:solidFill>
                        <a:srgbClr val="45474B"/>
                      </a:solidFill>
                      <a:prstDash val="solid"/>
                      <a:round/>
                      <a:headEnd type="none" w="med" len="med"/>
                      <a:tailEnd type="none" w="med" len="med"/>
                    </a:lnB>
                  </a:tcPr>
                </a:tc>
                <a:extLst>
                  <a:ext uri="{0D108BD9-81ED-4DB2-BD59-A6C34878D82A}">
                    <a16:rowId xmlns:a16="http://schemas.microsoft.com/office/drawing/2014/main" val="10003"/>
                  </a:ext>
                </a:extLst>
              </a:tr>
              <a:tr h="530820">
                <a:tc>
                  <a:txBody>
                    <a:bodyPr/>
                    <a:lstStyle/>
                    <a:p>
                      <a:pPr marL="0" indent="0">
                        <a:lnSpc>
                          <a:spcPts val="1890"/>
                        </a:lnSpc>
                        <a:buNone/>
                      </a:pPr>
                      <a:r>
                        <a:rPr lang="en-US" sz="1350" dirty="0">
                          <a:solidFill>
                            <a:srgbClr val="F4F2EC"/>
                          </a:solidFill>
                          <a:latin typeface="Inter" pitchFamily="34" charset="0"/>
                          <a:ea typeface="Inter" pitchFamily="34" charset="-122"/>
                          <a:cs typeface="Inter" pitchFamily="34" charset="-120"/>
                        </a:rPr>
                        <a:t>Failover that has never run</a:t>
                      </a:r>
                      <a:endParaRPr lang="en-US" sz="1350" dirty="0">
                        <a:latin typeface="Inter" charset="0"/>
                        <a:ea typeface="Inter" charset="0"/>
                        <a:cs typeface="Inter" charset="0"/>
                      </a:endParaRPr>
                    </a:p>
                  </a:txBody>
                  <a:tcPr marL="152400" marR="152400" marT="139700" marB="139700">
                    <a:lnL w="12700" cap="flat" cmpd="sng" algn="ctr">
                      <a:solidFill>
                        <a:srgbClr val="45474B"/>
                      </a:solidFill>
                      <a:prstDash val="solid"/>
                      <a:round/>
                      <a:headEnd type="none" w="med" len="med"/>
                      <a:tailEnd type="none" w="med" len="med"/>
                    </a:lnL>
                    <a:lnR w="12700" cap="flat" cmpd="sng" algn="ctr">
                      <a:solidFill>
                        <a:srgbClr val="45474B"/>
                      </a:solidFill>
                      <a:prstDash val="solid"/>
                      <a:round/>
                      <a:headEnd type="none" w="med" len="med"/>
                      <a:tailEnd type="none" w="med" len="med"/>
                    </a:lnR>
                    <a:lnT w="12700" cap="flat" cmpd="sng" algn="ctr">
                      <a:solidFill>
                        <a:srgbClr val="45474B"/>
                      </a:solidFill>
                      <a:prstDash val="solid"/>
                      <a:round/>
                      <a:headEnd type="none" w="med" len="med"/>
                      <a:tailEnd type="none" w="med" len="med"/>
                    </a:lnT>
                    <a:lnB w="12700" cap="flat" cmpd="sng" algn="ctr">
                      <a:solidFill>
                        <a:srgbClr val="45474B"/>
                      </a:solidFill>
                      <a:prstDash val="solid"/>
                      <a:round/>
                      <a:headEnd type="none" w="med" len="med"/>
                      <a:tailEnd type="none" w="med" len="med"/>
                    </a:lnB>
                  </a:tcPr>
                </a:tc>
                <a:tc>
                  <a:txBody>
                    <a:bodyPr/>
                    <a:lstStyle/>
                    <a:p>
                      <a:pPr marL="0" indent="0">
                        <a:lnSpc>
                          <a:spcPts val="1890"/>
                        </a:lnSpc>
                        <a:buNone/>
                      </a:pPr>
                      <a:r>
                        <a:rPr lang="en-US" sz="1350" dirty="0">
                          <a:solidFill>
                            <a:srgbClr val="9AA3B0"/>
                          </a:solidFill>
                          <a:latin typeface="Inter" pitchFamily="34" charset="0"/>
                          <a:ea typeface="Inter" pitchFamily="34" charset="-122"/>
                          <a:cs typeface="Inter" pitchFamily="34" charset="-120"/>
                        </a:rPr>
                        <a:t>The standby is stale, misconfigured, or simply does not start</a:t>
                      </a:r>
                      <a:endParaRPr lang="en-US" sz="1350" dirty="0">
                        <a:latin typeface="Inter" charset="0"/>
                        <a:ea typeface="Inter" charset="0"/>
                        <a:cs typeface="Inter" charset="0"/>
                      </a:endParaRPr>
                    </a:p>
                  </a:txBody>
                  <a:tcPr marL="152400" marR="152400" marT="139700" marB="139700">
                    <a:lnL w="12700" cap="flat" cmpd="sng" algn="ctr">
                      <a:solidFill>
                        <a:srgbClr val="45474B"/>
                      </a:solidFill>
                      <a:prstDash val="solid"/>
                      <a:round/>
                      <a:headEnd type="none" w="med" len="med"/>
                      <a:tailEnd type="none" w="med" len="med"/>
                    </a:lnL>
                    <a:lnR w="12700" cap="flat" cmpd="sng" algn="ctr">
                      <a:solidFill>
                        <a:srgbClr val="45474B"/>
                      </a:solidFill>
                      <a:prstDash val="solid"/>
                      <a:round/>
                      <a:headEnd type="none" w="med" len="med"/>
                      <a:tailEnd type="none" w="med" len="med"/>
                    </a:lnR>
                    <a:lnT w="12700" cap="flat" cmpd="sng" algn="ctr">
                      <a:solidFill>
                        <a:srgbClr val="45474B"/>
                      </a:solidFill>
                      <a:prstDash val="solid"/>
                      <a:round/>
                      <a:headEnd type="none" w="med" len="med"/>
                      <a:tailEnd type="none" w="med" len="med"/>
                    </a:lnT>
                    <a:lnB w="12700" cap="flat" cmpd="sng" algn="ctr">
                      <a:solidFill>
                        <a:srgbClr val="45474B"/>
                      </a:solidFill>
                      <a:prstDash val="solid"/>
                      <a:round/>
                      <a:headEnd type="none" w="med" len="med"/>
                      <a:tailEnd type="none" w="med" len="med"/>
                    </a:lnB>
                  </a:tcPr>
                </a:tc>
                <a:extLst>
                  <a:ext uri="{0D108BD9-81ED-4DB2-BD59-A6C34878D82A}">
                    <a16:rowId xmlns:a16="http://schemas.microsoft.com/office/drawing/2014/main" val="10004"/>
                  </a:ext>
                </a:extLst>
              </a:tr>
              <a:tr h="530820">
                <a:tc>
                  <a:txBody>
                    <a:bodyPr/>
                    <a:lstStyle/>
                    <a:p>
                      <a:pPr marL="0" indent="0">
                        <a:lnSpc>
                          <a:spcPts val="1890"/>
                        </a:lnSpc>
                        <a:buNone/>
                      </a:pPr>
                      <a:r>
                        <a:rPr lang="en-US" sz="1350" dirty="0">
                          <a:solidFill>
                            <a:srgbClr val="F4F2EC"/>
                          </a:solidFill>
                          <a:latin typeface="Inter" pitchFamily="34" charset="0"/>
                          <a:ea typeface="Inter" pitchFamily="34" charset="-122"/>
                          <a:cs typeface="Inter" pitchFamily="34" charset="-120"/>
                        </a:rPr>
                        <a:t>Alerts nobody has tuned</a:t>
                      </a:r>
                      <a:endParaRPr lang="en-US" sz="1350" dirty="0">
                        <a:latin typeface="Inter" charset="0"/>
                        <a:ea typeface="Inter" charset="0"/>
                        <a:cs typeface="Inter" charset="0"/>
                      </a:endParaRPr>
                    </a:p>
                  </a:txBody>
                  <a:tcPr marL="152400" marR="152400" marT="139700" marB="139700">
                    <a:lnL w="12700" cap="flat" cmpd="sng" algn="ctr">
                      <a:solidFill>
                        <a:srgbClr val="45474B"/>
                      </a:solidFill>
                      <a:prstDash val="solid"/>
                      <a:round/>
                      <a:headEnd type="none" w="med" len="med"/>
                      <a:tailEnd type="none" w="med" len="med"/>
                    </a:lnL>
                    <a:lnR w="12700" cap="flat" cmpd="sng" algn="ctr">
                      <a:solidFill>
                        <a:srgbClr val="45474B"/>
                      </a:solidFill>
                      <a:prstDash val="solid"/>
                      <a:round/>
                      <a:headEnd type="none" w="med" len="med"/>
                      <a:tailEnd type="none" w="med" len="med"/>
                    </a:lnR>
                    <a:lnT w="12700" cap="flat" cmpd="sng" algn="ctr">
                      <a:solidFill>
                        <a:srgbClr val="45474B"/>
                      </a:solidFill>
                      <a:prstDash val="solid"/>
                      <a:round/>
                      <a:headEnd type="none" w="med" len="med"/>
                      <a:tailEnd type="none" w="med" len="med"/>
                    </a:lnT>
                    <a:lnB w="12700" cap="flat" cmpd="sng" algn="ctr">
                      <a:solidFill>
                        <a:srgbClr val="45474B"/>
                      </a:solidFill>
                      <a:prstDash val="solid"/>
                      <a:round/>
                      <a:headEnd type="none" w="med" len="med"/>
                      <a:tailEnd type="none" w="med" len="med"/>
                    </a:lnB>
                  </a:tcPr>
                </a:tc>
                <a:tc>
                  <a:txBody>
                    <a:bodyPr/>
                    <a:lstStyle/>
                    <a:p>
                      <a:pPr marL="0" indent="0">
                        <a:lnSpc>
                          <a:spcPts val="1890"/>
                        </a:lnSpc>
                        <a:buNone/>
                      </a:pPr>
                      <a:r>
                        <a:rPr lang="en-US" sz="1350" dirty="0">
                          <a:solidFill>
                            <a:srgbClr val="9AA3B0"/>
                          </a:solidFill>
                          <a:latin typeface="Inter" pitchFamily="34" charset="0"/>
                          <a:ea typeface="Inter" pitchFamily="34" charset="-122"/>
                          <a:cs typeface="Inter" pitchFamily="34" charset="-120"/>
                        </a:rPr>
                        <a:t>The incident stays silent until a customer phones in</a:t>
                      </a:r>
                      <a:endParaRPr lang="en-US" sz="1350" dirty="0">
                        <a:latin typeface="Inter" charset="0"/>
                        <a:ea typeface="Inter" charset="0"/>
                        <a:cs typeface="Inter" charset="0"/>
                      </a:endParaRPr>
                    </a:p>
                  </a:txBody>
                  <a:tcPr marL="152400" marR="152400" marT="139700" marB="139700">
                    <a:lnL w="12700" cap="flat" cmpd="sng" algn="ctr">
                      <a:solidFill>
                        <a:srgbClr val="45474B"/>
                      </a:solidFill>
                      <a:prstDash val="solid"/>
                      <a:round/>
                      <a:headEnd type="none" w="med" len="med"/>
                      <a:tailEnd type="none" w="med" len="med"/>
                    </a:lnL>
                    <a:lnR w="12700" cap="flat" cmpd="sng" algn="ctr">
                      <a:solidFill>
                        <a:srgbClr val="45474B"/>
                      </a:solidFill>
                      <a:prstDash val="solid"/>
                      <a:round/>
                      <a:headEnd type="none" w="med" len="med"/>
                      <a:tailEnd type="none" w="med" len="med"/>
                    </a:lnR>
                    <a:lnT w="12700" cap="flat" cmpd="sng" algn="ctr">
                      <a:solidFill>
                        <a:srgbClr val="45474B"/>
                      </a:solidFill>
                      <a:prstDash val="solid"/>
                      <a:round/>
                      <a:headEnd type="none" w="med" len="med"/>
                      <a:tailEnd type="none" w="med" len="med"/>
                    </a:lnT>
                    <a:lnB w="12700" cap="flat" cmpd="sng" algn="ctr">
                      <a:solidFill>
                        <a:srgbClr val="45474B"/>
                      </a:solidFill>
                      <a:prstDash val="solid"/>
                      <a:round/>
                      <a:headEnd type="none" w="med" len="med"/>
                      <a:tailEnd type="none" w="med" len="med"/>
                    </a:lnB>
                  </a:tcPr>
                </a:tc>
                <a:extLst>
                  <a:ext uri="{0D108BD9-81ED-4DB2-BD59-A6C34878D82A}">
                    <a16:rowId xmlns:a16="http://schemas.microsoft.com/office/drawing/2014/main" val="10005"/>
                  </a:ext>
                </a:extLst>
              </a:tr>
              <a:tr h="770839">
                <a:tc>
                  <a:txBody>
                    <a:bodyPr/>
                    <a:lstStyle/>
                    <a:p>
                      <a:pPr marL="0" indent="0">
                        <a:lnSpc>
                          <a:spcPts val="1890"/>
                        </a:lnSpc>
                        <a:buNone/>
                      </a:pPr>
                      <a:r>
                        <a:rPr lang="en-US" sz="1350" dirty="0">
                          <a:solidFill>
                            <a:srgbClr val="F4F2EC"/>
                          </a:solidFill>
                          <a:latin typeface="Inter" pitchFamily="34" charset="0"/>
                          <a:ea typeface="Inter" pitchFamily="34" charset="-122"/>
                          <a:cs typeface="Inter" pitchFamily="34" charset="-120"/>
                        </a:rPr>
                        <a:t>Runbooks nobody has executed</a:t>
                      </a:r>
                      <a:endParaRPr lang="en-US" sz="1350" dirty="0">
                        <a:latin typeface="Inter" charset="0"/>
                        <a:ea typeface="Inter" charset="0"/>
                        <a:cs typeface="Inter" charset="0"/>
                      </a:endParaRPr>
                    </a:p>
                  </a:txBody>
                  <a:tcPr marL="152400" marR="152400" marT="139700" marB="139700">
                    <a:lnL w="12700" cap="flat" cmpd="sng" algn="ctr">
                      <a:solidFill>
                        <a:srgbClr val="45474B"/>
                      </a:solidFill>
                      <a:prstDash val="solid"/>
                      <a:round/>
                      <a:headEnd type="none" w="med" len="med"/>
                      <a:tailEnd type="none" w="med" len="med"/>
                    </a:lnL>
                    <a:lnR w="12700" cap="flat" cmpd="sng" algn="ctr">
                      <a:solidFill>
                        <a:srgbClr val="45474B"/>
                      </a:solidFill>
                      <a:prstDash val="solid"/>
                      <a:round/>
                      <a:headEnd type="none" w="med" len="med"/>
                      <a:tailEnd type="none" w="med" len="med"/>
                    </a:lnR>
                    <a:lnT w="12700" cap="flat" cmpd="sng" algn="ctr">
                      <a:solidFill>
                        <a:srgbClr val="45474B"/>
                      </a:solidFill>
                      <a:prstDash val="solid"/>
                      <a:round/>
                      <a:headEnd type="none" w="med" len="med"/>
                      <a:tailEnd type="none" w="med" len="med"/>
                    </a:lnT>
                    <a:lnB w="12700" cap="flat" cmpd="sng" algn="ctr">
                      <a:solidFill>
                        <a:srgbClr val="45474B"/>
                      </a:solidFill>
                      <a:prstDash val="solid"/>
                      <a:round/>
                      <a:headEnd type="none" w="med" len="med"/>
                      <a:tailEnd type="none" w="med" len="med"/>
                    </a:lnB>
                  </a:tcPr>
                </a:tc>
                <a:tc>
                  <a:txBody>
                    <a:bodyPr/>
                    <a:lstStyle/>
                    <a:p>
                      <a:pPr marL="0" indent="0">
                        <a:lnSpc>
                          <a:spcPts val="1890"/>
                        </a:lnSpc>
                        <a:buNone/>
                      </a:pPr>
                      <a:r>
                        <a:rPr lang="en-US" sz="1350" dirty="0">
                          <a:solidFill>
                            <a:srgbClr val="9AA3B0"/>
                          </a:solidFill>
                          <a:latin typeface="Inter" pitchFamily="34" charset="0"/>
                          <a:ea typeface="Inter" pitchFamily="34" charset="-122"/>
                          <a:cs typeface="Inter" pitchFamily="34" charset="-120"/>
                        </a:rPr>
                        <a:t>The written steps turn out to be wrong, under pressure, at 03:00</a:t>
                      </a:r>
                      <a:endParaRPr lang="en-US" sz="1350" dirty="0">
                        <a:latin typeface="Inter" charset="0"/>
                        <a:ea typeface="Inter" charset="0"/>
                        <a:cs typeface="Inter" charset="0"/>
                      </a:endParaRPr>
                    </a:p>
                  </a:txBody>
                  <a:tcPr marL="152400" marR="152400" marT="139700" marB="139700">
                    <a:lnL w="12700" cap="flat" cmpd="sng" algn="ctr">
                      <a:solidFill>
                        <a:srgbClr val="45474B"/>
                      </a:solidFill>
                      <a:prstDash val="solid"/>
                      <a:round/>
                      <a:headEnd type="none" w="med" len="med"/>
                      <a:tailEnd type="none" w="med" len="med"/>
                    </a:lnL>
                    <a:lnR w="12700" cap="flat" cmpd="sng" algn="ctr">
                      <a:solidFill>
                        <a:srgbClr val="45474B"/>
                      </a:solidFill>
                      <a:prstDash val="solid"/>
                      <a:round/>
                      <a:headEnd type="none" w="med" len="med"/>
                      <a:tailEnd type="none" w="med" len="med"/>
                    </a:lnR>
                    <a:lnT w="12700" cap="flat" cmpd="sng" algn="ctr">
                      <a:solidFill>
                        <a:srgbClr val="45474B"/>
                      </a:solidFill>
                      <a:prstDash val="solid"/>
                      <a:round/>
                      <a:headEnd type="none" w="med" len="med"/>
                      <a:tailEnd type="none" w="med" len="med"/>
                    </a:lnT>
                    <a:lnB w="12700" cap="flat" cmpd="sng" algn="ctr">
                      <a:solidFill>
                        <a:srgbClr val="45474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10617218" y="6238242"/>
            <a:ext cx="8128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775"/>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812784"/>
            <a:ext cx="10883429" cy="528259"/>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B1E24"/>
                </a:solidFill>
                <a:latin typeface="Space Grotesk" pitchFamily="34" charset="0"/>
                <a:ea typeface="Space Grotesk" pitchFamily="34" charset="-122"/>
                <a:cs typeface="Space Grotesk" pitchFamily="34" charset="-120"/>
              </a:rPr>
              <a:t>The tool landscape</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782" y="1620425"/>
          <a:ext cx="10566345" cy="3476445"/>
        </p:xfrm>
        <a:graphic>
          <a:graphicData uri="http://schemas.openxmlformats.org/drawingml/2006/table">
            <a:tbl>
              <a:tblPr/>
              <a:tblGrid>
                <a:gridCol w="3522115">
                  <a:extLst>
                    <a:ext uri="{9D8B030D-6E8A-4147-A177-3AD203B41FA5}">
                      <a16:colId xmlns:a16="http://schemas.microsoft.com/office/drawing/2014/main" val="20000"/>
                    </a:ext>
                  </a:extLst>
                </a:gridCol>
                <a:gridCol w="3522115">
                  <a:extLst>
                    <a:ext uri="{9D8B030D-6E8A-4147-A177-3AD203B41FA5}">
                      <a16:colId xmlns:a16="http://schemas.microsoft.com/office/drawing/2014/main" val="20001"/>
                    </a:ext>
                  </a:extLst>
                </a:gridCol>
                <a:gridCol w="3522115">
                  <a:extLst>
                    <a:ext uri="{9D8B030D-6E8A-4147-A177-3AD203B41FA5}">
                      <a16:colId xmlns:a16="http://schemas.microsoft.com/office/drawing/2014/main" val="20002"/>
                    </a:ext>
                  </a:extLst>
                </a:gridCol>
              </a:tblGrid>
              <a:tr h="496635">
                <a:tc>
                  <a:txBody>
                    <a:bodyPr/>
                    <a:lstStyle/>
                    <a:p>
                      <a:pPr marL="0" indent="0">
                        <a:lnSpc>
                          <a:spcPts val="1820"/>
                        </a:lnSpc>
                        <a:buNone/>
                      </a:pPr>
                      <a:r>
                        <a:rPr lang="en-US" sz="1300" b="1" dirty="0">
                          <a:solidFill>
                            <a:srgbClr val="6B7280"/>
                          </a:solidFill>
                          <a:latin typeface="Inter" pitchFamily="34" charset="0"/>
                          <a:ea typeface="Inter" pitchFamily="34" charset="-122"/>
                          <a:cs typeface="Inter" pitchFamily="34" charset="-120"/>
                        </a:rPr>
                        <a:t>Tool</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solidFill>
                      <a:srgbClr val="E3E1DC"/>
                    </a:solidFill>
                  </a:tcPr>
                </a:tc>
                <a:tc>
                  <a:txBody>
                    <a:bodyPr/>
                    <a:lstStyle/>
                    <a:p>
                      <a:pPr marL="0" indent="0">
                        <a:lnSpc>
                          <a:spcPts val="1820"/>
                        </a:lnSpc>
                        <a:buNone/>
                      </a:pPr>
                      <a:r>
                        <a:rPr lang="en-US" sz="1300" b="1" dirty="0">
                          <a:solidFill>
                            <a:srgbClr val="6B7280"/>
                          </a:solidFill>
                          <a:latin typeface="Inter" pitchFamily="34" charset="0"/>
                          <a:ea typeface="Inter" pitchFamily="34" charset="-122"/>
                          <a:cs typeface="Inter" pitchFamily="34" charset="-120"/>
                        </a:rPr>
                        <a:t>What it injects</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solidFill>
                      <a:srgbClr val="E3E1DC"/>
                    </a:solidFill>
                  </a:tcPr>
                </a:tc>
                <a:tc>
                  <a:txBody>
                    <a:bodyPr/>
                    <a:lstStyle/>
                    <a:p>
                      <a:pPr marL="0" indent="0">
                        <a:lnSpc>
                          <a:spcPts val="1820"/>
                        </a:lnSpc>
                        <a:buNone/>
                      </a:pPr>
                      <a:r>
                        <a:rPr lang="en-US" sz="1300" b="1" dirty="0">
                          <a:solidFill>
                            <a:srgbClr val="6B7280"/>
                          </a:solidFill>
                          <a:latin typeface="Inter" pitchFamily="34" charset="0"/>
                          <a:ea typeface="Inter" pitchFamily="34" charset="-122"/>
                          <a:cs typeface="Inter" pitchFamily="34" charset="-120"/>
                        </a:rPr>
                        <a:t>Where it fits</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solidFill>
                      <a:srgbClr val="E3E1DC"/>
                    </a:solidFill>
                  </a:tcPr>
                </a:tc>
                <a:extLst>
                  <a:ext uri="{0D108BD9-81ED-4DB2-BD59-A6C34878D82A}">
                    <a16:rowId xmlns:a16="http://schemas.microsoft.com/office/drawing/2014/main" val="10000"/>
                  </a:ext>
                </a:extLst>
              </a:tr>
              <a:tr h="496635">
                <a:tc>
                  <a:txBody>
                    <a:bodyPr/>
                    <a:lstStyle/>
                    <a:p>
                      <a:pPr marL="0" indent="0">
                        <a:lnSpc>
                          <a:spcPts val="1820"/>
                        </a:lnSpc>
                        <a:buNone/>
                      </a:pPr>
                      <a:r>
                        <a:rPr lang="en-US" sz="1300" dirty="0">
                          <a:solidFill>
                            <a:srgbClr val="1B1E24"/>
                          </a:solidFill>
                          <a:latin typeface="Inter" pitchFamily="34" charset="0"/>
                          <a:ea typeface="Inter" pitchFamily="34" charset="-122"/>
                          <a:cs typeface="Inter" pitchFamily="34" charset="-120"/>
                        </a:rPr>
                        <a:t>Chaos Mesh</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marL="0" indent="0">
                        <a:lnSpc>
                          <a:spcPts val="1820"/>
                        </a:lnSpc>
                        <a:buNone/>
                      </a:pPr>
                      <a:r>
                        <a:rPr lang="en-US" sz="1300" dirty="0">
                          <a:solidFill>
                            <a:srgbClr val="4B515B"/>
                          </a:solidFill>
                          <a:latin typeface="Inter" pitchFamily="34" charset="0"/>
                          <a:ea typeface="Inter" pitchFamily="34" charset="-122"/>
                          <a:cs typeface="Inter" pitchFamily="34" charset="-120"/>
                        </a:rPr>
                        <a:t>Pod, network, IO, time, kernel faults</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marL="0" indent="0">
                        <a:lnSpc>
                          <a:spcPts val="1820"/>
                        </a:lnSpc>
                        <a:buNone/>
                      </a:pPr>
                      <a:r>
                        <a:rPr lang="en-US" sz="1300" dirty="0">
                          <a:solidFill>
                            <a:srgbClr val="4B515B"/>
                          </a:solidFill>
                          <a:latin typeface="Inter" pitchFamily="34" charset="0"/>
                          <a:ea typeface="Inter" pitchFamily="34" charset="-122"/>
                          <a:cs typeface="Inter" pitchFamily="34" charset="-120"/>
                        </a:rPr>
                        <a:t>CNCF, Kubernetes-native CRDs</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extLst>
                  <a:ext uri="{0D108BD9-81ED-4DB2-BD59-A6C34878D82A}">
                    <a16:rowId xmlns:a16="http://schemas.microsoft.com/office/drawing/2014/main" val="10001"/>
                  </a:ext>
                </a:extLst>
              </a:tr>
              <a:tr h="496635">
                <a:tc>
                  <a:txBody>
                    <a:bodyPr/>
                    <a:lstStyle/>
                    <a:p>
                      <a:pPr marL="0" indent="0">
                        <a:lnSpc>
                          <a:spcPts val="1820"/>
                        </a:lnSpc>
                        <a:buNone/>
                      </a:pPr>
                      <a:r>
                        <a:rPr lang="en-US" sz="1300" dirty="0">
                          <a:solidFill>
                            <a:srgbClr val="1B1E24"/>
                          </a:solidFill>
                          <a:latin typeface="Inter" pitchFamily="34" charset="0"/>
                          <a:ea typeface="Inter" pitchFamily="34" charset="-122"/>
                          <a:cs typeface="Inter" pitchFamily="34" charset="-120"/>
                        </a:rPr>
                        <a:t>LitmusChaos</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marL="0" indent="0">
                        <a:lnSpc>
                          <a:spcPts val="1820"/>
                        </a:lnSpc>
                        <a:buNone/>
                      </a:pPr>
                      <a:r>
                        <a:rPr lang="en-US" sz="1300" dirty="0">
                          <a:solidFill>
                            <a:srgbClr val="4B515B"/>
                          </a:solidFill>
                          <a:latin typeface="Inter" pitchFamily="34" charset="0"/>
                          <a:ea typeface="Inter" pitchFamily="34" charset="-122"/>
                          <a:cs typeface="Inter" pitchFamily="34" charset="-120"/>
                        </a:rPr>
                        <a:t>Experiment hub, workflows, probes</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marL="0" indent="0">
                        <a:lnSpc>
                          <a:spcPts val="1820"/>
                        </a:lnSpc>
                        <a:buNone/>
                      </a:pPr>
                      <a:r>
                        <a:rPr lang="en-US" sz="1300" dirty="0">
                          <a:solidFill>
                            <a:srgbClr val="4B515B"/>
                          </a:solidFill>
                          <a:latin typeface="Inter" pitchFamily="34" charset="0"/>
                          <a:ea typeface="Inter" pitchFamily="34" charset="-122"/>
                          <a:cs typeface="Inter" pitchFamily="34" charset="-120"/>
                        </a:rPr>
                        <a:t>CNCF, fits a GitOps pipeline</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extLst>
                  <a:ext uri="{0D108BD9-81ED-4DB2-BD59-A6C34878D82A}">
                    <a16:rowId xmlns:a16="http://schemas.microsoft.com/office/drawing/2014/main" val="10002"/>
                  </a:ext>
                </a:extLst>
              </a:tr>
              <a:tr h="496635">
                <a:tc>
                  <a:txBody>
                    <a:bodyPr/>
                    <a:lstStyle/>
                    <a:p>
                      <a:pPr marL="0" indent="0">
                        <a:lnSpc>
                          <a:spcPts val="1820"/>
                        </a:lnSpc>
                        <a:buNone/>
                      </a:pPr>
                      <a:r>
                        <a:rPr lang="en-US" sz="1300" dirty="0">
                          <a:solidFill>
                            <a:srgbClr val="1B1E24"/>
                          </a:solidFill>
                          <a:latin typeface="Inter" pitchFamily="34" charset="0"/>
                          <a:ea typeface="Inter" pitchFamily="34" charset="-122"/>
                          <a:cs typeface="Inter" pitchFamily="34" charset="-120"/>
                        </a:rPr>
                        <a:t>Chaos Monkey</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marL="0" indent="0">
                        <a:lnSpc>
                          <a:spcPts val="1820"/>
                        </a:lnSpc>
                        <a:buNone/>
                      </a:pPr>
                      <a:r>
                        <a:rPr lang="en-US" sz="1300" dirty="0">
                          <a:solidFill>
                            <a:srgbClr val="4B515B"/>
                          </a:solidFill>
                          <a:latin typeface="Inter" pitchFamily="34" charset="0"/>
                          <a:ea typeface="Inter" pitchFamily="34" charset="-122"/>
                          <a:cs typeface="Inter" pitchFamily="34" charset="-120"/>
                        </a:rPr>
                        <a:t>Instance termination</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marL="0" indent="0">
                        <a:lnSpc>
                          <a:spcPts val="1820"/>
                        </a:lnSpc>
                        <a:buNone/>
                      </a:pPr>
                      <a:r>
                        <a:rPr lang="en-US" sz="1300" dirty="0">
                          <a:solidFill>
                            <a:srgbClr val="4B515B"/>
                          </a:solidFill>
                          <a:latin typeface="Inter" pitchFamily="34" charset="0"/>
                          <a:ea typeface="Inter" pitchFamily="34" charset="-122"/>
                          <a:cs typeface="Inter" pitchFamily="34" charset="-120"/>
                        </a:rPr>
                        <a:t>The original; tied to Spinnaker</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extLst>
                  <a:ext uri="{0D108BD9-81ED-4DB2-BD59-A6C34878D82A}">
                    <a16:rowId xmlns:a16="http://schemas.microsoft.com/office/drawing/2014/main" val="10003"/>
                  </a:ext>
                </a:extLst>
              </a:tr>
              <a:tr h="496635">
                <a:tc>
                  <a:txBody>
                    <a:bodyPr/>
                    <a:lstStyle/>
                    <a:p>
                      <a:pPr marL="0" indent="0">
                        <a:lnSpc>
                          <a:spcPts val="1820"/>
                        </a:lnSpc>
                        <a:buNone/>
                      </a:pPr>
                      <a:r>
                        <a:rPr lang="en-US" sz="1300" dirty="0">
                          <a:solidFill>
                            <a:srgbClr val="1B1E24"/>
                          </a:solidFill>
                          <a:latin typeface="Inter" pitchFamily="34" charset="0"/>
                          <a:ea typeface="Inter" pitchFamily="34" charset="-122"/>
                          <a:cs typeface="Inter" pitchFamily="34" charset="-120"/>
                        </a:rPr>
                        <a:t>AWS FIS, Azure Chaos Studio</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marL="0" indent="0">
                        <a:lnSpc>
                          <a:spcPts val="1820"/>
                        </a:lnSpc>
                        <a:buNone/>
                      </a:pPr>
                      <a:r>
                        <a:rPr lang="en-US" sz="1300" dirty="0">
                          <a:solidFill>
                            <a:srgbClr val="4B515B"/>
                          </a:solidFill>
                          <a:latin typeface="Inter" pitchFamily="34" charset="0"/>
                          <a:ea typeface="Inter" pitchFamily="34" charset="-122"/>
                          <a:cs typeface="Inter" pitchFamily="34" charset="-120"/>
                        </a:rPr>
                        <a:t>Cloud-level faults: AZ, API, instances</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marL="0" indent="0">
                        <a:lnSpc>
                          <a:spcPts val="1820"/>
                        </a:lnSpc>
                        <a:buNone/>
                      </a:pPr>
                      <a:r>
                        <a:rPr lang="en-US" sz="1300" dirty="0">
                          <a:solidFill>
                            <a:srgbClr val="4B515B"/>
                          </a:solidFill>
                          <a:latin typeface="Inter" pitchFamily="34" charset="0"/>
                          <a:ea typeface="Inter" pitchFamily="34" charset="-122"/>
                          <a:cs typeface="Inter" pitchFamily="34" charset="-120"/>
                        </a:rPr>
                        <a:t>Managed, inside one cloud</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extLst>
                  <a:ext uri="{0D108BD9-81ED-4DB2-BD59-A6C34878D82A}">
                    <a16:rowId xmlns:a16="http://schemas.microsoft.com/office/drawing/2014/main" val="10004"/>
                  </a:ext>
                </a:extLst>
              </a:tr>
              <a:tr h="496635">
                <a:tc>
                  <a:txBody>
                    <a:bodyPr/>
                    <a:lstStyle/>
                    <a:p>
                      <a:pPr marL="0" indent="0">
                        <a:lnSpc>
                          <a:spcPts val="1820"/>
                        </a:lnSpc>
                        <a:buNone/>
                      </a:pPr>
                      <a:r>
                        <a:rPr lang="en-US" sz="1300" dirty="0">
                          <a:solidFill>
                            <a:srgbClr val="1B1E24"/>
                          </a:solidFill>
                          <a:latin typeface="Inter" pitchFamily="34" charset="0"/>
                          <a:ea typeface="Inter" pitchFamily="34" charset="-122"/>
                          <a:cs typeface="Inter" pitchFamily="34" charset="-120"/>
                        </a:rPr>
                        <a:t>Gremlin, Steadybit</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marL="0" indent="0">
                        <a:lnSpc>
                          <a:spcPts val="1820"/>
                        </a:lnSpc>
                        <a:buNone/>
                      </a:pPr>
                      <a:r>
                        <a:rPr lang="en-US" sz="1300" dirty="0">
                          <a:solidFill>
                            <a:srgbClr val="4B515B"/>
                          </a:solidFill>
                          <a:latin typeface="Inter" pitchFamily="34" charset="0"/>
                          <a:ea typeface="Inter" pitchFamily="34" charset="-122"/>
                          <a:cs typeface="Inter" pitchFamily="34" charset="-120"/>
                        </a:rPr>
                        <a:t>Broad fault library, guardrails, reports</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marL="0" indent="0">
                        <a:lnSpc>
                          <a:spcPts val="1820"/>
                        </a:lnSpc>
                        <a:buNone/>
                      </a:pPr>
                      <a:r>
                        <a:rPr lang="en-US" sz="1300" dirty="0">
                          <a:solidFill>
                            <a:srgbClr val="4B515B"/>
                          </a:solidFill>
                          <a:latin typeface="Inter" pitchFamily="34" charset="0"/>
                          <a:ea typeface="Inter" pitchFamily="34" charset="-122"/>
                          <a:cs typeface="Inter" pitchFamily="34" charset="-120"/>
                        </a:rPr>
                        <a:t>Commercial, for programmes at scale</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extLst>
                  <a:ext uri="{0D108BD9-81ED-4DB2-BD59-A6C34878D82A}">
                    <a16:rowId xmlns:a16="http://schemas.microsoft.com/office/drawing/2014/main" val="10005"/>
                  </a:ext>
                </a:extLst>
              </a:tr>
              <a:tr h="496635">
                <a:tc>
                  <a:txBody>
                    <a:bodyPr/>
                    <a:lstStyle/>
                    <a:p>
                      <a:pPr marL="0" indent="0">
                        <a:lnSpc>
                          <a:spcPts val="1820"/>
                        </a:lnSpc>
                        <a:buNone/>
                      </a:pPr>
                      <a:r>
                        <a:rPr lang="en-US" sz="1300" dirty="0">
                          <a:solidFill>
                            <a:srgbClr val="1B1E24"/>
                          </a:solidFill>
                          <a:latin typeface="Inter" pitchFamily="34" charset="0"/>
                          <a:ea typeface="Inter" pitchFamily="34" charset="-122"/>
                          <a:cs typeface="Inter" pitchFamily="34" charset="-120"/>
                        </a:rPr>
                        <a:t>KubeInvaders</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marL="0" indent="0">
                        <a:lnSpc>
                          <a:spcPts val="1820"/>
                        </a:lnSpc>
                        <a:buNone/>
                      </a:pPr>
                      <a:r>
                        <a:rPr lang="en-US" sz="1300" dirty="0">
                          <a:solidFill>
                            <a:srgbClr val="4B515B"/>
                          </a:solidFill>
                          <a:latin typeface="Inter" pitchFamily="34" charset="0"/>
                          <a:ea typeface="Inter" pitchFamily="34" charset="-122"/>
                          <a:cs typeface="Inter" pitchFamily="34" charset="-120"/>
                        </a:rPr>
                        <a:t>Pod deletion, as a Space Invaders game</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tc>
                  <a:txBody>
                    <a:bodyPr/>
                    <a:lstStyle/>
                    <a:p>
                      <a:pPr marL="0" indent="0">
                        <a:lnSpc>
                          <a:spcPts val="1820"/>
                        </a:lnSpc>
                        <a:buNone/>
                      </a:pPr>
                      <a:r>
                        <a:rPr lang="en-US" sz="1300" dirty="0">
                          <a:solidFill>
                            <a:srgbClr val="4B515B"/>
                          </a:solidFill>
                          <a:latin typeface="Inter" pitchFamily="34" charset="0"/>
                          <a:ea typeface="Inter" pitchFamily="34" charset="-122"/>
                          <a:cs typeface="Inter" pitchFamily="34" charset="-120"/>
                        </a:rPr>
                        <a:t>Teaching, demos, getting people to care</a:t>
                      </a:r>
                      <a:endParaRPr lang="en-US" sz="1300" dirty="0">
                        <a:latin typeface="Inter" charset="0"/>
                        <a:ea typeface="Inter" charset="0"/>
                        <a:cs typeface="Inter" charset="0"/>
                      </a:endParaRPr>
                    </a:p>
                  </a:txBody>
                  <a:tcPr marL="152400" marR="152400" marT="127000" marB="127000">
                    <a:lnL w="12700" cap="flat" cmpd="sng" algn="ctr">
                      <a:solidFill>
                        <a:srgbClr val="C4C3C0"/>
                      </a:solidFill>
                      <a:prstDash val="solid"/>
                      <a:round/>
                      <a:headEnd type="none" w="med" len="med"/>
                      <a:tailEnd type="none" w="med" len="med"/>
                    </a:lnL>
                    <a:lnR w="12700" cap="flat" cmpd="sng" algn="ctr">
                      <a:solidFill>
                        <a:srgbClr val="C4C3C0"/>
                      </a:solidFill>
                      <a:prstDash val="solid"/>
                      <a:round/>
                      <a:headEnd type="none" w="med" len="med"/>
                      <a:tailEnd type="none" w="med" len="med"/>
                    </a:lnR>
                    <a:lnT w="12700" cap="flat" cmpd="sng" algn="ctr">
                      <a:solidFill>
                        <a:srgbClr val="C4C3C0"/>
                      </a:solidFill>
                      <a:prstDash val="solid"/>
                      <a:round/>
                      <a:headEnd type="none" w="med" len="med"/>
                      <a:tailEnd type="none" w="med" len="med"/>
                    </a:lnT>
                    <a:lnB w="12700" cap="flat" cmpd="sng" algn="ctr">
                      <a:solidFill>
                        <a:srgbClr val="C4C3C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10617218" y="6238246"/>
            <a:ext cx="8128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8089"/>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71D"/>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528259"/>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4F2EC"/>
                </a:solidFill>
                <a:latin typeface="Space Grotesk" pitchFamily="34" charset="0"/>
                <a:ea typeface="Space Grotesk" pitchFamily="34" charset="-122"/>
                <a:cs typeface="Space Grotesk" pitchFamily="34" charset="-120"/>
              </a:rPr>
              <a:t>How this usually grows</a:t>
            </a:r>
            <a:endParaRPr lang="en-US" sz="3600" dirty="0"/>
          </a:p>
        </p:txBody>
      </p:sp>
      <p:sp>
        <p:nvSpPr>
          <p:cNvPr id="3" name="Shape 1"/>
          <p:cNvSpPr/>
          <p:nvPr/>
        </p:nvSpPr>
        <p:spPr>
          <a:xfrm>
            <a:off x="815957" y="1674378"/>
            <a:ext cx="3380347" cy="2362092"/>
          </a:xfrm>
          <a:prstGeom prst="roundRect">
            <a:avLst>
              <a:gd name="adj" fmla="val 5242"/>
            </a:avLst>
          </a:prstGeom>
          <a:solidFill>
            <a:srgbClr val="1C2028"/>
          </a:solidFill>
          <a:ln w="6350">
            <a:solidFill>
              <a:srgbClr val="2B313C"/>
            </a:solidFill>
            <a:prstDash val="solid"/>
          </a:ln>
        </p:spPr>
        <p:txBody>
          <a:bodyPr/>
          <a:lstStyle/>
          <a:p>
            <a:endParaRPr lang="de-DE"/>
          </a:p>
        </p:txBody>
      </p:sp>
      <p:sp>
        <p:nvSpPr>
          <p:cNvPr id="4" name="Text 2"/>
          <p:cNvSpPr/>
          <p:nvPr/>
        </p:nvSpPr>
        <p:spPr>
          <a:xfrm>
            <a:off x="1123337" y="1981758"/>
            <a:ext cx="2848555" cy="23881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3E6A0"/>
                </a:solidFill>
                <a:latin typeface="Inter" pitchFamily="34" charset="0"/>
                <a:ea typeface="Inter" pitchFamily="34" charset="-122"/>
                <a:cs typeface="Inter" pitchFamily="34" charset="-120"/>
              </a:rPr>
              <a:t>STAGE ONE</a:t>
            </a:r>
            <a:endParaRPr lang="en-US" sz="1200" dirty="0"/>
          </a:p>
        </p:txBody>
      </p:sp>
      <p:sp>
        <p:nvSpPr>
          <p:cNvPr id="5" name="Text 3"/>
          <p:cNvSpPr/>
          <p:nvPr/>
        </p:nvSpPr>
        <p:spPr>
          <a:xfrm>
            <a:off x="1123337" y="2322165"/>
            <a:ext cx="2848555" cy="314938"/>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F4F2EC"/>
                </a:solidFill>
                <a:latin typeface="Space Grotesk" pitchFamily="34" charset="0"/>
                <a:ea typeface="Space Grotesk" pitchFamily="34" charset="-122"/>
                <a:cs typeface="Space Grotesk" pitchFamily="34" charset="-120"/>
              </a:rPr>
              <a:t>By hand, in a sandbox</a:t>
            </a:r>
            <a:endParaRPr lang="en-US" sz="1900" dirty="0"/>
          </a:p>
        </p:txBody>
      </p:sp>
      <p:sp>
        <p:nvSpPr>
          <p:cNvPr id="6" name="Text 4"/>
          <p:cNvSpPr/>
          <p:nvPr/>
        </p:nvSpPr>
        <p:spPr>
          <a:xfrm>
            <a:off x="1123337" y="2738704"/>
            <a:ext cx="2848555" cy="1015783"/>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9AA3B0"/>
                </a:solidFill>
                <a:latin typeface="Inter" pitchFamily="34" charset="0"/>
                <a:ea typeface="Inter" pitchFamily="34" charset="-122"/>
                <a:cs typeface="Inter" pitchFamily="34" charset="-120"/>
              </a:rPr>
              <a:t>Delete a pod and watch. A throwaway cluster, one team, no ceremony. The goal is a shared instinct, not coverage.</a:t>
            </a:r>
            <a:endParaRPr lang="en-US" sz="1300" dirty="0"/>
          </a:p>
        </p:txBody>
      </p:sp>
      <p:sp>
        <p:nvSpPr>
          <p:cNvPr id="7" name="Shape 5"/>
          <p:cNvSpPr/>
          <p:nvPr/>
        </p:nvSpPr>
        <p:spPr>
          <a:xfrm>
            <a:off x="4405781" y="1674378"/>
            <a:ext cx="3380437" cy="2362092"/>
          </a:xfrm>
          <a:prstGeom prst="roundRect">
            <a:avLst>
              <a:gd name="adj" fmla="val 5242"/>
            </a:avLst>
          </a:prstGeom>
          <a:solidFill>
            <a:srgbClr val="1C2028"/>
          </a:solidFill>
          <a:ln w="6350">
            <a:solidFill>
              <a:srgbClr val="2B313C"/>
            </a:solidFill>
            <a:prstDash val="solid"/>
          </a:ln>
        </p:spPr>
        <p:txBody>
          <a:bodyPr/>
          <a:lstStyle/>
          <a:p>
            <a:endParaRPr lang="de-DE"/>
          </a:p>
        </p:txBody>
      </p:sp>
      <p:sp>
        <p:nvSpPr>
          <p:cNvPr id="8" name="Text 6"/>
          <p:cNvSpPr/>
          <p:nvPr/>
        </p:nvSpPr>
        <p:spPr>
          <a:xfrm>
            <a:off x="4713161" y="1981758"/>
            <a:ext cx="2848648" cy="23881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3E6A0"/>
                </a:solidFill>
                <a:latin typeface="Inter" pitchFamily="34" charset="0"/>
                <a:ea typeface="Inter" pitchFamily="34" charset="-122"/>
                <a:cs typeface="Inter" pitchFamily="34" charset="-120"/>
              </a:rPr>
              <a:t>STAGE TWO</a:t>
            </a:r>
            <a:endParaRPr lang="en-US" sz="1200" dirty="0"/>
          </a:p>
        </p:txBody>
      </p:sp>
      <p:sp>
        <p:nvSpPr>
          <p:cNvPr id="9" name="Text 7"/>
          <p:cNvSpPr/>
          <p:nvPr/>
        </p:nvSpPr>
        <p:spPr>
          <a:xfrm>
            <a:off x="4713161" y="2322165"/>
            <a:ext cx="2848648" cy="314938"/>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F4F2EC"/>
                </a:solidFill>
                <a:latin typeface="Space Grotesk" pitchFamily="34" charset="0"/>
                <a:ea typeface="Space Grotesk" pitchFamily="34" charset="-122"/>
                <a:cs typeface="Space Grotesk" pitchFamily="34" charset="-120"/>
              </a:rPr>
              <a:t>Experiments in Git</a:t>
            </a:r>
            <a:endParaRPr lang="en-US" sz="1900" dirty="0"/>
          </a:p>
        </p:txBody>
      </p:sp>
      <p:sp>
        <p:nvSpPr>
          <p:cNvPr id="10" name="Text 8"/>
          <p:cNvSpPr/>
          <p:nvPr/>
        </p:nvSpPr>
        <p:spPr>
          <a:xfrm>
            <a:off x="4713161" y="2738704"/>
            <a:ext cx="2848648" cy="1015783"/>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9AA3B0"/>
                </a:solidFill>
                <a:latin typeface="Inter" pitchFamily="34" charset="0"/>
                <a:ea typeface="Inter" pitchFamily="34" charset="-122"/>
                <a:cs typeface="Inter" pitchFamily="34" charset="-120"/>
              </a:rPr>
              <a:t>Chaos Mesh or Litmus manifests reviewed, versioned and reconciled like everything else in the platform.</a:t>
            </a:r>
            <a:endParaRPr lang="en-US" sz="1300" dirty="0"/>
          </a:p>
        </p:txBody>
      </p:sp>
      <p:sp>
        <p:nvSpPr>
          <p:cNvPr id="11" name="Shape 9"/>
          <p:cNvSpPr/>
          <p:nvPr/>
        </p:nvSpPr>
        <p:spPr>
          <a:xfrm>
            <a:off x="7995696" y="1674378"/>
            <a:ext cx="3380347" cy="2362092"/>
          </a:xfrm>
          <a:prstGeom prst="roundRect">
            <a:avLst>
              <a:gd name="adj" fmla="val 5242"/>
            </a:avLst>
          </a:prstGeom>
          <a:solidFill>
            <a:srgbClr val="1C2028"/>
          </a:solidFill>
          <a:ln w="6350">
            <a:solidFill>
              <a:srgbClr val="2B313C"/>
            </a:solidFill>
            <a:prstDash val="solid"/>
          </a:ln>
        </p:spPr>
        <p:txBody>
          <a:bodyPr/>
          <a:lstStyle/>
          <a:p>
            <a:endParaRPr lang="de-DE"/>
          </a:p>
        </p:txBody>
      </p:sp>
      <p:sp>
        <p:nvSpPr>
          <p:cNvPr id="12" name="Text 10"/>
          <p:cNvSpPr/>
          <p:nvPr/>
        </p:nvSpPr>
        <p:spPr>
          <a:xfrm>
            <a:off x="8303075" y="1981758"/>
            <a:ext cx="2848555" cy="23881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3E6A0"/>
                </a:solidFill>
                <a:latin typeface="Inter" pitchFamily="34" charset="0"/>
                <a:ea typeface="Inter" pitchFamily="34" charset="-122"/>
                <a:cs typeface="Inter" pitchFamily="34" charset="-120"/>
              </a:rPr>
              <a:t>STAGE THREE</a:t>
            </a:r>
            <a:endParaRPr lang="en-US" sz="1200" dirty="0"/>
          </a:p>
        </p:txBody>
      </p:sp>
      <p:sp>
        <p:nvSpPr>
          <p:cNvPr id="13" name="Text 11"/>
          <p:cNvSpPr/>
          <p:nvPr/>
        </p:nvSpPr>
        <p:spPr>
          <a:xfrm>
            <a:off x="8303075" y="2322165"/>
            <a:ext cx="2848555" cy="314938"/>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F4F2EC"/>
                </a:solidFill>
                <a:latin typeface="Space Grotesk" pitchFamily="34" charset="0"/>
                <a:ea typeface="Space Grotesk" pitchFamily="34" charset="-122"/>
                <a:cs typeface="Space Grotesk" pitchFamily="34" charset="-120"/>
              </a:rPr>
              <a:t>Continuous and gated</a:t>
            </a:r>
            <a:endParaRPr lang="en-US" sz="1900" dirty="0"/>
          </a:p>
        </p:txBody>
      </p:sp>
      <p:sp>
        <p:nvSpPr>
          <p:cNvPr id="14" name="Text 12"/>
          <p:cNvSpPr/>
          <p:nvPr/>
        </p:nvSpPr>
        <p:spPr>
          <a:xfrm>
            <a:off x="8303075" y="2738704"/>
            <a:ext cx="2848555" cy="1015783"/>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9AA3B0"/>
                </a:solidFill>
                <a:latin typeface="Inter" pitchFamily="34" charset="0"/>
                <a:ea typeface="Inter" pitchFamily="34" charset="-122"/>
                <a:cs typeface="Inter" pitchFamily="34" charset="-120"/>
              </a:rPr>
              <a:t>Scheduled runs against real environments, tied to SLOs, with results that block a release when they should.</a:t>
            </a:r>
            <a:endParaRPr lang="en-US" sz="1300" dirty="0"/>
          </a:p>
        </p:txBody>
      </p:sp>
      <p:sp>
        <p:nvSpPr>
          <p:cNvPr id="15" name="Text 13"/>
          <p:cNvSpPr/>
          <p:nvPr/>
        </p:nvSpPr>
        <p:spPr>
          <a:xfrm>
            <a:off x="10617218" y="6238242"/>
            <a:ext cx="8128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775"/>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63E6A0"/>
        </a:solidFill>
        <a:effectLst/>
      </p:bgPr>
    </p:bg>
    <p:spTree>
      <p:nvGrpSpPr>
        <p:cNvPr id="1" name=""/>
        <p:cNvGrpSpPr/>
        <p:nvPr/>
      </p:nvGrpSpPr>
      <p:grpSpPr>
        <a:xfrm>
          <a:off x="0" y="0"/>
          <a:ext cx="0" cy="0"/>
          <a:chOff x="0" y="0"/>
          <a:chExt cx="0" cy="0"/>
        </a:xfrm>
      </p:grpSpPr>
      <p:sp>
        <p:nvSpPr>
          <p:cNvPr id="2" name="Text 0"/>
          <p:cNvSpPr/>
          <p:nvPr/>
        </p:nvSpPr>
        <p:spPr>
          <a:xfrm>
            <a:off x="812782" y="2362845"/>
            <a:ext cx="10883429" cy="27425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2A3A30"/>
                </a:solidFill>
                <a:latin typeface="Inter" pitchFamily="34" charset="0"/>
                <a:ea typeface="Inter" pitchFamily="34" charset="-122"/>
                <a:cs typeface="Inter" pitchFamily="34" charset="-120"/>
              </a:rPr>
              <a:t>LIVE DEMO</a:t>
            </a:r>
            <a:endParaRPr lang="en-US" sz="1400" dirty="0"/>
          </a:p>
        </p:txBody>
      </p:sp>
      <p:sp>
        <p:nvSpPr>
          <p:cNvPr id="3" name="Text 1"/>
          <p:cNvSpPr/>
          <p:nvPr/>
        </p:nvSpPr>
        <p:spPr>
          <a:xfrm>
            <a:off x="812782" y="2840267"/>
            <a:ext cx="10883429" cy="825464"/>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101319"/>
                </a:solidFill>
                <a:latin typeface="Space Grotesk" pitchFamily="34" charset="0"/>
                <a:ea typeface="Space Grotesk" pitchFamily="34" charset="-122"/>
                <a:cs typeface="Space Grotesk" pitchFamily="34" charset="-120"/>
              </a:rPr>
              <a:t>KubeInvaders</a:t>
            </a:r>
            <a:endParaRPr lang="en-US" sz="6000" dirty="0"/>
          </a:p>
        </p:txBody>
      </p:sp>
      <p:sp>
        <p:nvSpPr>
          <p:cNvPr id="4" name="Text 2"/>
          <p:cNvSpPr/>
          <p:nvPr/>
        </p:nvSpPr>
        <p:spPr>
          <a:xfrm>
            <a:off x="812782" y="3868899"/>
            <a:ext cx="8829675" cy="65156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2A3A30"/>
                </a:solidFill>
                <a:latin typeface="Inter" pitchFamily="34" charset="0"/>
                <a:ea typeface="Inter" pitchFamily="34" charset="-122"/>
                <a:cs typeface="Inter" pitchFamily="34" charset="-120"/>
              </a:rPr>
              <a:t>Space Invaders, where the aliens are the pods in your cluster. Four nodes, running on this laptop.</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71D"/>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528259"/>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4F2EC"/>
                </a:solidFill>
                <a:latin typeface="Space Grotesk" pitchFamily="34" charset="0"/>
                <a:ea typeface="Space Grotesk" pitchFamily="34" charset="-122"/>
                <a:cs typeface="Space Grotesk" pitchFamily="34" charset="-120"/>
              </a:rPr>
              <a:t>What is running</a:t>
            </a:r>
            <a:endParaRPr lang="en-US" sz="3600" dirty="0"/>
          </a:p>
        </p:txBody>
      </p:sp>
      <p:sp>
        <p:nvSpPr>
          <p:cNvPr id="3" name="Text 1"/>
          <p:cNvSpPr/>
          <p:nvPr/>
        </p:nvSpPr>
        <p:spPr>
          <a:xfrm>
            <a:off x="812782" y="1645766"/>
            <a:ext cx="9810750" cy="577778"/>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9AA3B0"/>
                </a:solidFill>
                <a:latin typeface="Inter" pitchFamily="34" charset="0"/>
                <a:ea typeface="Inter" pitchFamily="34" charset="-122"/>
                <a:cs typeface="Inter" pitchFamily="34" charset="-120"/>
              </a:rPr>
              <a:t>A four-node kind cluster in WSL, with three workloads built to fail differently. Same application, three levels of care.</a:t>
            </a:r>
            <a:endParaRPr lang="en-US" sz="1500" dirty="0"/>
          </a:p>
        </p:txBody>
      </p:sp>
      <p:sp>
        <p:nvSpPr>
          <p:cNvPr id="4" name="Shape 2"/>
          <p:cNvSpPr/>
          <p:nvPr/>
        </p:nvSpPr>
        <p:spPr>
          <a:xfrm>
            <a:off x="815957" y="2531449"/>
            <a:ext cx="3397214" cy="2039631"/>
          </a:xfrm>
          <a:prstGeom prst="roundRect">
            <a:avLst>
              <a:gd name="adj" fmla="val 6071"/>
            </a:avLst>
          </a:prstGeom>
          <a:solidFill>
            <a:srgbClr val="1C2028"/>
          </a:solidFill>
          <a:ln w="6350">
            <a:solidFill>
              <a:srgbClr val="2B5F45"/>
            </a:solidFill>
            <a:prstDash val="solid"/>
          </a:ln>
        </p:spPr>
        <p:txBody>
          <a:bodyPr/>
          <a:lstStyle/>
          <a:p>
            <a:endParaRPr lang="de-DE"/>
          </a:p>
        </p:txBody>
      </p:sp>
      <p:sp>
        <p:nvSpPr>
          <p:cNvPr id="5" name="Text 3"/>
          <p:cNvSpPr/>
          <p:nvPr/>
        </p:nvSpPr>
        <p:spPr>
          <a:xfrm>
            <a:off x="1097901" y="2813391"/>
            <a:ext cx="2918326" cy="29960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63E6A0"/>
                </a:solidFill>
                <a:latin typeface="Space Grotesk" pitchFamily="34" charset="0"/>
                <a:ea typeface="Space Grotesk" pitchFamily="34" charset="-122"/>
                <a:cs typeface="Space Grotesk" pitchFamily="34" charset="-120"/>
              </a:rPr>
              <a:t>frontend</a:t>
            </a:r>
            <a:endParaRPr lang="en-US" sz="1800" dirty="0"/>
          </a:p>
        </p:txBody>
      </p:sp>
      <p:sp>
        <p:nvSpPr>
          <p:cNvPr id="6" name="Text 4"/>
          <p:cNvSpPr/>
          <p:nvPr/>
        </p:nvSpPr>
        <p:spPr>
          <a:xfrm>
            <a:off x="1097901" y="3201876"/>
            <a:ext cx="2918326" cy="768188"/>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C6CCD6"/>
                </a:solidFill>
                <a:latin typeface="Inter" pitchFamily="34" charset="0"/>
                <a:ea typeface="Inter" pitchFamily="34" charset="-122"/>
                <a:cs typeface="Inter" pitchFamily="34" charset="-120"/>
              </a:rPr>
              <a:t>Six replicas, spread across three nodes, ready in a second, image already on the node.</a:t>
            </a:r>
            <a:endParaRPr lang="en-US" sz="1300" dirty="0"/>
          </a:p>
        </p:txBody>
      </p:sp>
      <p:sp>
        <p:nvSpPr>
          <p:cNvPr id="7" name="Text 5"/>
          <p:cNvSpPr/>
          <p:nvPr/>
        </p:nvSpPr>
        <p:spPr>
          <a:xfrm>
            <a:off x="1097901" y="4058946"/>
            <a:ext cx="2918326" cy="255588"/>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9AA3B0"/>
                </a:solidFill>
                <a:latin typeface="Inter" pitchFamily="34" charset="0"/>
                <a:ea typeface="Inter" pitchFamily="34" charset="-122"/>
                <a:cs typeface="Inter" pitchFamily="34" charset="-120"/>
              </a:rPr>
              <a:t>Prediction: nothing visible happens.</a:t>
            </a:r>
            <a:endParaRPr lang="en-US" sz="1250" dirty="0"/>
          </a:p>
        </p:txBody>
      </p:sp>
      <p:sp>
        <p:nvSpPr>
          <p:cNvPr id="8" name="Shape 6"/>
          <p:cNvSpPr/>
          <p:nvPr/>
        </p:nvSpPr>
        <p:spPr>
          <a:xfrm>
            <a:off x="4397303" y="2531449"/>
            <a:ext cx="3397304" cy="2039631"/>
          </a:xfrm>
          <a:prstGeom prst="roundRect">
            <a:avLst>
              <a:gd name="adj" fmla="val 6071"/>
            </a:avLst>
          </a:prstGeom>
          <a:solidFill>
            <a:srgbClr val="1C2028"/>
          </a:solidFill>
          <a:ln w="6350">
            <a:solidFill>
              <a:srgbClr val="6B5A2A"/>
            </a:solidFill>
            <a:prstDash val="solid"/>
          </a:ln>
        </p:spPr>
        <p:txBody>
          <a:bodyPr/>
          <a:lstStyle/>
          <a:p>
            <a:endParaRPr lang="de-DE"/>
          </a:p>
        </p:txBody>
      </p:sp>
      <p:sp>
        <p:nvSpPr>
          <p:cNvPr id="9" name="Text 7"/>
          <p:cNvSpPr/>
          <p:nvPr/>
        </p:nvSpPr>
        <p:spPr>
          <a:xfrm>
            <a:off x="4679246" y="2813391"/>
            <a:ext cx="2918419" cy="29960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0C360"/>
                </a:solidFill>
                <a:latin typeface="Space Grotesk" pitchFamily="34" charset="0"/>
                <a:ea typeface="Space Grotesk" pitchFamily="34" charset="-122"/>
                <a:cs typeface="Space Grotesk" pitchFamily="34" charset="-120"/>
              </a:rPr>
              <a:t>cart-api</a:t>
            </a:r>
            <a:endParaRPr lang="en-US" sz="1800" dirty="0"/>
          </a:p>
        </p:txBody>
      </p:sp>
      <p:sp>
        <p:nvSpPr>
          <p:cNvPr id="10" name="Text 8"/>
          <p:cNvSpPr/>
          <p:nvPr/>
        </p:nvSpPr>
        <p:spPr>
          <a:xfrm>
            <a:off x="4679246" y="3201876"/>
            <a:ext cx="2918419" cy="520592"/>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C6CCD6"/>
                </a:solidFill>
                <a:latin typeface="Inter" pitchFamily="34" charset="0"/>
                <a:ea typeface="Inter" pitchFamily="34" charset="-122"/>
                <a:cs typeface="Inter" pitchFamily="34" charset="-120"/>
              </a:rPr>
              <a:t>Three replicas, but twenty seconds before a new pod reports ready.</a:t>
            </a:r>
            <a:endParaRPr lang="en-US" sz="1300" dirty="0"/>
          </a:p>
        </p:txBody>
      </p:sp>
      <p:sp>
        <p:nvSpPr>
          <p:cNvPr id="11" name="Text 9"/>
          <p:cNvSpPr/>
          <p:nvPr/>
        </p:nvSpPr>
        <p:spPr>
          <a:xfrm>
            <a:off x="4679246" y="3811352"/>
            <a:ext cx="2918419" cy="255588"/>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9AA3B0"/>
                </a:solidFill>
                <a:latin typeface="Inter" pitchFamily="34" charset="0"/>
                <a:ea typeface="Inter" pitchFamily="34" charset="-122"/>
                <a:cs typeface="Inter" pitchFamily="34" charset="-120"/>
              </a:rPr>
              <a:t>Prediction: survives, recovers slowly.</a:t>
            </a:r>
            <a:endParaRPr lang="en-US" sz="1250" dirty="0"/>
          </a:p>
        </p:txBody>
      </p:sp>
      <p:sp>
        <p:nvSpPr>
          <p:cNvPr id="12" name="Shape 10"/>
          <p:cNvSpPr/>
          <p:nvPr/>
        </p:nvSpPr>
        <p:spPr>
          <a:xfrm>
            <a:off x="7978739" y="2531449"/>
            <a:ext cx="3397304" cy="2039631"/>
          </a:xfrm>
          <a:prstGeom prst="roundRect">
            <a:avLst>
              <a:gd name="adj" fmla="val 6071"/>
            </a:avLst>
          </a:prstGeom>
          <a:solidFill>
            <a:srgbClr val="1C2028"/>
          </a:solidFill>
          <a:ln w="6350">
            <a:solidFill>
              <a:srgbClr val="7A3B40"/>
            </a:solidFill>
            <a:prstDash val="solid"/>
          </a:ln>
        </p:spPr>
        <p:txBody>
          <a:bodyPr/>
          <a:lstStyle/>
          <a:p>
            <a:endParaRPr lang="de-DE"/>
          </a:p>
        </p:txBody>
      </p:sp>
      <p:sp>
        <p:nvSpPr>
          <p:cNvPr id="13" name="Text 11"/>
          <p:cNvSpPr/>
          <p:nvPr/>
        </p:nvSpPr>
        <p:spPr>
          <a:xfrm>
            <a:off x="8260683" y="2813391"/>
            <a:ext cx="2918419" cy="29960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0868E"/>
                </a:solidFill>
                <a:latin typeface="Space Grotesk" pitchFamily="34" charset="0"/>
                <a:ea typeface="Space Grotesk" pitchFamily="34" charset="-122"/>
                <a:cs typeface="Space Grotesk" pitchFamily="34" charset="-120"/>
              </a:rPr>
              <a:t>legacy-db</a:t>
            </a:r>
            <a:endParaRPr lang="en-US" sz="1800" dirty="0"/>
          </a:p>
        </p:txBody>
      </p:sp>
      <p:sp>
        <p:nvSpPr>
          <p:cNvPr id="14" name="Text 12"/>
          <p:cNvSpPr/>
          <p:nvPr/>
        </p:nvSpPr>
        <p:spPr>
          <a:xfrm>
            <a:off x="8260683" y="3201876"/>
            <a:ext cx="2918419" cy="520592"/>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C6CCD6"/>
                </a:solidFill>
                <a:latin typeface="Inter" pitchFamily="34" charset="0"/>
                <a:ea typeface="Inter" pitchFamily="34" charset="-122"/>
                <a:cs typeface="Inter" pitchFamily="34" charset="-120"/>
              </a:rPr>
              <a:t>One replica. No redundancy anywhere in the path.</a:t>
            </a:r>
            <a:endParaRPr lang="en-US" sz="1300" dirty="0"/>
          </a:p>
        </p:txBody>
      </p:sp>
      <p:sp>
        <p:nvSpPr>
          <p:cNvPr id="15" name="Text 13"/>
          <p:cNvSpPr/>
          <p:nvPr/>
        </p:nvSpPr>
        <p:spPr>
          <a:xfrm>
            <a:off x="8260683" y="3811352"/>
            <a:ext cx="2918419" cy="255588"/>
          </a:xfrm>
          <a:prstGeom prst="rect">
            <a:avLst/>
          </a:prstGeom>
          <a:noFill/>
          <a:ln/>
        </p:spPr>
        <p:txBody>
          <a:bodyPr wrap="square" lIns="0" tIns="0" rIns="0" bIns="0" rtlCol="0" anchor="t">
            <a:normAutofit/>
          </a:bodyPr>
          <a:lstStyle/>
          <a:p>
            <a:pPr marL="0" indent="0" algn="l">
              <a:lnSpc>
                <a:spcPts val="1813"/>
              </a:lnSpc>
              <a:buNone/>
            </a:pPr>
            <a:r>
              <a:rPr lang="en-US" sz="1250" dirty="0">
                <a:solidFill>
                  <a:srgbClr val="9AA3B0"/>
                </a:solidFill>
                <a:latin typeface="Inter" pitchFamily="34" charset="0"/>
                <a:ea typeface="Inter" pitchFamily="34" charset="-122"/>
                <a:cs typeface="Inter" pitchFamily="34" charset="-120"/>
              </a:rPr>
              <a:t>Prediction: instant outage.</a:t>
            </a:r>
            <a:endParaRPr lang="en-US" sz="1250" dirty="0"/>
          </a:p>
        </p:txBody>
      </p:sp>
      <p:sp>
        <p:nvSpPr>
          <p:cNvPr id="16" name="Text 14"/>
          <p:cNvSpPr/>
          <p:nvPr/>
        </p:nvSpPr>
        <p:spPr>
          <a:xfrm>
            <a:off x="10617218" y="6238242"/>
            <a:ext cx="8128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775"/>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483791"/>
          </a:xfrm>
          <a:prstGeom prst="rect">
            <a:avLst/>
          </a:prstGeom>
          <a:noFill/>
          <a:ln/>
        </p:spPr>
        <p:txBody>
          <a:bodyPr wrap="square" lIns="0" tIns="0" rIns="0" bIns="0" rtlCol="0" anchor="t">
            <a:normAutofit/>
          </a:bodyPr>
          <a:lstStyle/>
          <a:p>
            <a:pPr marL="0" indent="0" algn="l">
              <a:lnSpc>
                <a:spcPts val="3614"/>
              </a:lnSpc>
              <a:buNone/>
            </a:pPr>
            <a:r>
              <a:rPr lang="en-US" sz="3285" b="1" dirty="0">
                <a:solidFill>
                  <a:srgbClr val="1B1E24"/>
                </a:solidFill>
                <a:latin typeface="Space Grotesk" pitchFamily="34" charset="0"/>
                <a:ea typeface="Space Grotesk" pitchFamily="34" charset="-122"/>
                <a:cs typeface="Space Grotesk" pitchFamily="34" charset="-120"/>
              </a:rPr>
              <a:t>What to watch for</a:t>
            </a:r>
            <a:endParaRPr lang="en-US" sz="3285" dirty="0"/>
          </a:p>
        </p:txBody>
      </p:sp>
      <p:sp>
        <p:nvSpPr>
          <p:cNvPr id="3" name="Shape 1"/>
          <p:cNvSpPr/>
          <p:nvPr/>
        </p:nvSpPr>
        <p:spPr>
          <a:xfrm>
            <a:off x="815957" y="1579128"/>
            <a:ext cx="10560086" cy="948856"/>
          </a:xfrm>
          <a:prstGeom prst="roundRect">
            <a:avLst>
              <a:gd name="adj" fmla="val 10373"/>
            </a:avLst>
          </a:prstGeom>
          <a:solidFill>
            <a:srgbClr val="FFFFFF"/>
          </a:solidFill>
          <a:ln w="6350">
            <a:solidFill>
              <a:srgbClr val="DDD9CF"/>
            </a:solidFill>
            <a:prstDash val="solid"/>
          </a:ln>
        </p:spPr>
        <p:txBody>
          <a:bodyPr/>
          <a:lstStyle/>
          <a:p>
            <a:endParaRPr lang="de-DE"/>
          </a:p>
        </p:txBody>
      </p:sp>
      <p:sp>
        <p:nvSpPr>
          <p:cNvPr id="4" name="Text 2"/>
          <p:cNvSpPr/>
          <p:nvPr/>
        </p:nvSpPr>
        <p:spPr>
          <a:xfrm>
            <a:off x="1097901" y="1857915"/>
            <a:ext cx="495300" cy="416592"/>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63E6A0"/>
                </a:solidFill>
                <a:latin typeface="Space Grotesk" pitchFamily="34" charset="0"/>
                <a:ea typeface="Space Grotesk" pitchFamily="34" charset="-122"/>
                <a:cs typeface="Space Grotesk" pitchFamily="34" charset="-120"/>
              </a:rPr>
              <a:t>01</a:t>
            </a:r>
            <a:endParaRPr lang="en-US" sz="2200" dirty="0"/>
          </a:p>
        </p:txBody>
      </p:sp>
      <p:sp>
        <p:nvSpPr>
          <p:cNvPr id="5" name="Text 3"/>
          <p:cNvSpPr/>
          <p:nvPr/>
        </p:nvSpPr>
        <p:spPr>
          <a:xfrm>
            <a:off x="1770964" y="1784133"/>
            <a:ext cx="9602829" cy="261541"/>
          </a:xfrm>
          <a:prstGeom prst="rect">
            <a:avLst/>
          </a:prstGeom>
          <a:noFill/>
          <a:ln/>
        </p:spPr>
        <p:txBody>
          <a:bodyPr wrap="square" lIns="0" tIns="0" rIns="0" bIns="0" rtlCol="0" anchor="t">
            <a:normAutofit/>
          </a:bodyPr>
          <a:lstStyle/>
          <a:p>
            <a:pPr marL="0" indent="0" algn="l">
              <a:lnSpc>
                <a:spcPts val="1860"/>
              </a:lnSpc>
              <a:buNone/>
            </a:pPr>
            <a:r>
              <a:rPr lang="en-US" sz="1550" b="1" dirty="0">
                <a:solidFill>
                  <a:srgbClr val="1B1E24"/>
                </a:solidFill>
                <a:latin typeface="Inter" pitchFamily="34" charset="0"/>
                <a:ea typeface="Inter" pitchFamily="34" charset="-122"/>
                <a:cs typeface="Inter" pitchFamily="34" charset="-120"/>
              </a:rPr>
              <a:t>Redundancy is boring, and that is the point</a:t>
            </a:r>
            <a:endParaRPr lang="en-US" sz="1550" dirty="0"/>
          </a:p>
        </p:txBody>
      </p:sp>
      <p:sp>
        <p:nvSpPr>
          <p:cNvPr id="6" name="Text 4"/>
          <p:cNvSpPr/>
          <p:nvPr/>
        </p:nvSpPr>
        <p:spPr>
          <a:xfrm>
            <a:off x="1770964" y="2083774"/>
            <a:ext cx="9602829" cy="264698"/>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B515B"/>
                </a:solidFill>
                <a:latin typeface="Inter" pitchFamily="34" charset="0"/>
                <a:ea typeface="Inter" pitchFamily="34" charset="-122"/>
                <a:cs typeface="Inter" pitchFamily="34" charset="-120"/>
              </a:rPr>
              <a:t>Six frontend pods, killed one after another, and the page never stops answering.</a:t>
            </a:r>
            <a:endParaRPr lang="en-US" sz="1300" dirty="0"/>
          </a:p>
        </p:txBody>
      </p:sp>
      <p:sp>
        <p:nvSpPr>
          <p:cNvPr id="7" name="Shape 5"/>
          <p:cNvSpPr/>
          <p:nvPr/>
        </p:nvSpPr>
        <p:spPr>
          <a:xfrm>
            <a:off x="815957" y="2686676"/>
            <a:ext cx="10560086" cy="948766"/>
          </a:xfrm>
          <a:prstGeom prst="roundRect">
            <a:avLst>
              <a:gd name="adj" fmla="val 10374"/>
            </a:avLst>
          </a:prstGeom>
          <a:solidFill>
            <a:srgbClr val="FFFFFF"/>
          </a:solidFill>
          <a:ln w="6350">
            <a:solidFill>
              <a:srgbClr val="DDD9CF"/>
            </a:solidFill>
            <a:prstDash val="solid"/>
          </a:ln>
        </p:spPr>
        <p:txBody>
          <a:bodyPr/>
          <a:lstStyle/>
          <a:p>
            <a:endParaRPr lang="de-DE"/>
          </a:p>
        </p:txBody>
      </p:sp>
      <p:sp>
        <p:nvSpPr>
          <p:cNvPr id="8" name="Text 6"/>
          <p:cNvSpPr/>
          <p:nvPr/>
        </p:nvSpPr>
        <p:spPr>
          <a:xfrm>
            <a:off x="1097901" y="2965462"/>
            <a:ext cx="495300" cy="416592"/>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0868E"/>
                </a:solidFill>
                <a:latin typeface="Space Grotesk" pitchFamily="34" charset="0"/>
                <a:ea typeface="Space Grotesk" pitchFamily="34" charset="-122"/>
                <a:cs typeface="Space Grotesk" pitchFamily="34" charset="-120"/>
              </a:rPr>
              <a:t>02</a:t>
            </a:r>
            <a:endParaRPr lang="en-US" sz="2200" dirty="0"/>
          </a:p>
        </p:txBody>
      </p:sp>
      <p:sp>
        <p:nvSpPr>
          <p:cNvPr id="9" name="Text 7"/>
          <p:cNvSpPr/>
          <p:nvPr/>
        </p:nvSpPr>
        <p:spPr>
          <a:xfrm>
            <a:off x="1770964" y="2891594"/>
            <a:ext cx="9602829" cy="261541"/>
          </a:xfrm>
          <a:prstGeom prst="rect">
            <a:avLst/>
          </a:prstGeom>
          <a:noFill/>
          <a:ln/>
        </p:spPr>
        <p:txBody>
          <a:bodyPr wrap="square" lIns="0" tIns="0" rIns="0" bIns="0" rtlCol="0" anchor="t">
            <a:normAutofit/>
          </a:bodyPr>
          <a:lstStyle/>
          <a:p>
            <a:pPr marL="0" indent="0" algn="l">
              <a:lnSpc>
                <a:spcPts val="1860"/>
              </a:lnSpc>
              <a:buNone/>
            </a:pPr>
            <a:r>
              <a:rPr lang="en-US" sz="1550" b="1" dirty="0">
                <a:solidFill>
                  <a:srgbClr val="1B1E24"/>
                </a:solidFill>
                <a:latin typeface="Inter" pitchFamily="34" charset="0"/>
                <a:ea typeface="Inter" pitchFamily="34" charset="-122"/>
                <a:cs typeface="Inter" pitchFamily="34" charset="-120"/>
              </a:rPr>
              <a:t>One replica is one shot</a:t>
            </a:r>
            <a:endParaRPr lang="en-US" sz="1550" dirty="0"/>
          </a:p>
        </p:txBody>
      </p:sp>
      <p:sp>
        <p:nvSpPr>
          <p:cNvPr id="10" name="Text 8"/>
          <p:cNvSpPr/>
          <p:nvPr/>
        </p:nvSpPr>
        <p:spPr>
          <a:xfrm>
            <a:off x="1770964" y="3191235"/>
            <a:ext cx="9602829" cy="264698"/>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B515B"/>
                </a:solidFill>
                <a:latin typeface="Inter" pitchFamily="34" charset="0"/>
                <a:ea typeface="Inter" pitchFamily="34" charset="-122"/>
                <a:cs typeface="Inter" pitchFamily="34" charset="-120"/>
              </a:rPr>
              <a:t>legacy-db drops, the endpoint returns errors, and the gap lasts until the new pod is ready.</a:t>
            </a:r>
            <a:endParaRPr lang="en-US" sz="1300" dirty="0"/>
          </a:p>
        </p:txBody>
      </p:sp>
      <p:sp>
        <p:nvSpPr>
          <p:cNvPr id="11" name="Shape 9"/>
          <p:cNvSpPr/>
          <p:nvPr/>
        </p:nvSpPr>
        <p:spPr>
          <a:xfrm>
            <a:off x="815957" y="3794137"/>
            <a:ext cx="10560086" cy="948766"/>
          </a:xfrm>
          <a:prstGeom prst="roundRect">
            <a:avLst>
              <a:gd name="adj" fmla="val 10374"/>
            </a:avLst>
          </a:prstGeom>
          <a:solidFill>
            <a:srgbClr val="FFFFFF"/>
          </a:solidFill>
          <a:ln w="6350">
            <a:solidFill>
              <a:srgbClr val="DDD9CF"/>
            </a:solidFill>
            <a:prstDash val="solid"/>
          </a:ln>
        </p:spPr>
        <p:txBody>
          <a:bodyPr/>
          <a:lstStyle/>
          <a:p>
            <a:endParaRPr lang="de-DE"/>
          </a:p>
        </p:txBody>
      </p:sp>
      <p:sp>
        <p:nvSpPr>
          <p:cNvPr id="12" name="Text 10"/>
          <p:cNvSpPr/>
          <p:nvPr/>
        </p:nvSpPr>
        <p:spPr>
          <a:xfrm>
            <a:off x="1097901" y="4072930"/>
            <a:ext cx="495300" cy="416592"/>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0A93F"/>
                </a:solidFill>
                <a:latin typeface="Space Grotesk" pitchFamily="34" charset="0"/>
                <a:ea typeface="Space Grotesk" pitchFamily="34" charset="-122"/>
                <a:cs typeface="Space Grotesk" pitchFamily="34" charset="-120"/>
              </a:rPr>
              <a:t>03</a:t>
            </a:r>
            <a:endParaRPr lang="en-US" sz="2200" dirty="0"/>
          </a:p>
        </p:txBody>
      </p:sp>
      <p:sp>
        <p:nvSpPr>
          <p:cNvPr id="13" name="Text 11"/>
          <p:cNvSpPr/>
          <p:nvPr/>
        </p:nvSpPr>
        <p:spPr>
          <a:xfrm>
            <a:off x="1770964" y="3999055"/>
            <a:ext cx="9602829" cy="261541"/>
          </a:xfrm>
          <a:prstGeom prst="rect">
            <a:avLst/>
          </a:prstGeom>
          <a:noFill/>
          <a:ln/>
        </p:spPr>
        <p:txBody>
          <a:bodyPr wrap="square" lIns="0" tIns="0" rIns="0" bIns="0" rtlCol="0" anchor="t">
            <a:normAutofit/>
          </a:bodyPr>
          <a:lstStyle/>
          <a:p>
            <a:pPr marL="0" indent="0" algn="l">
              <a:lnSpc>
                <a:spcPts val="1860"/>
              </a:lnSpc>
              <a:buNone/>
            </a:pPr>
            <a:r>
              <a:rPr lang="en-US" sz="1550" b="1" dirty="0">
                <a:solidFill>
                  <a:srgbClr val="1B1E24"/>
                </a:solidFill>
                <a:latin typeface="Inter" pitchFamily="34" charset="0"/>
                <a:ea typeface="Inter" pitchFamily="34" charset="-122"/>
                <a:cs typeface="Inter" pitchFamily="34" charset="-120"/>
              </a:rPr>
              <a:t>Readiness delay is real downtime</a:t>
            </a:r>
            <a:endParaRPr lang="en-US" sz="1550" dirty="0"/>
          </a:p>
        </p:txBody>
      </p:sp>
      <p:sp>
        <p:nvSpPr>
          <p:cNvPr id="14" name="Text 12"/>
          <p:cNvSpPr/>
          <p:nvPr/>
        </p:nvSpPr>
        <p:spPr>
          <a:xfrm>
            <a:off x="1770964" y="4298696"/>
            <a:ext cx="9602829" cy="264698"/>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B515B"/>
                </a:solidFill>
                <a:latin typeface="Inter" pitchFamily="34" charset="0"/>
                <a:ea typeface="Inter" pitchFamily="34" charset="-122"/>
                <a:cs typeface="Inter" pitchFamily="34" charset="-120"/>
              </a:rPr>
              <a:t>cart-api comes back, but twenty seconds late. That number is your recovery time, per pod.</a:t>
            </a:r>
            <a:endParaRPr lang="en-US" sz="1300" dirty="0"/>
          </a:p>
        </p:txBody>
      </p:sp>
      <p:sp>
        <p:nvSpPr>
          <p:cNvPr id="15" name="Shape 13"/>
          <p:cNvSpPr/>
          <p:nvPr/>
        </p:nvSpPr>
        <p:spPr>
          <a:xfrm>
            <a:off x="812782" y="4898430"/>
            <a:ext cx="10566436" cy="943570"/>
          </a:xfrm>
          <a:prstGeom prst="roundRect">
            <a:avLst>
              <a:gd name="adj" fmla="val 10768"/>
            </a:avLst>
          </a:prstGeom>
          <a:solidFill>
            <a:srgbClr val="1C2028"/>
          </a:solidFill>
          <a:ln/>
        </p:spPr>
        <p:txBody>
          <a:bodyPr/>
          <a:lstStyle/>
          <a:p>
            <a:endParaRPr lang="de-DE"/>
          </a:p>
        </p:txBody>
      </p:sp>
      <p:sp>
        <p:nvSpPr>
          <p:cNvPr id="16" name="Text 14"/>
          <p:cNvSpPr/>
          <p:nvPr/>
        </p:nvSpPr>
        <p:spPr>
          <a:xfrm>
            <a:off x="1092128" y="5174617"/>
            <a:ext cx="495300" cy="416592"/>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63E6A0"/>
                </a:solidFill>
                <a:latin typeface="Space Grotesk" pitchFamily="34" charset="0"/>
                <a:ea typeface="Space Grotesk" pitchFamily="34" charset="-122"/>
                <a:cs typeface="Space Grotesk" pitchFamily="34" charset="-120"/>
              </a:rPr>
              <a:t>04</a:t>
            </a:r>
            <a:endParaRPr lang="en-US" sz="2200" dirty="0"/>
          </a:p>
        </p:txBody>
      </p:sp>
      <p:sp>
        <p:nvSpPr>
          <p:cNvPr id="17" name="Text 15"/>
          <p:cNvSpPr/>
          <p:nvPr/>
        </p:nvSpPr>
        <p:spPr>
          <a:xfrm>
            <a:off x="1765192" y="5100743"/>
            <a:ext cx="9614720" cy="261541"/>
          </a:xfrm>
          <a:prstGeom prst="rect">
            <a:avLst/>
          </a:prstGeom>
          <a:noFill/>
          <a:ln/>
        </p:spPr>
        <p:txBody>
          <a:bodyPr wrap="square" lIns="0" tIns="0" rIns="0" bIns="0" rtlCol="0" anchor="t">
            <a:normAutofit/>
          </a:bodyPr>
          <a:lstStyle/>
          <a:p>
            <a:pPr marL="0" indent="0" algn="l">
              <a:lnSpc>
                <a:spcPts val="1860"/>
              </a:lnSpc>
              <a:buNone/>
            </a:pPr>
            <a:r>
              <a:rPr lang="en-US" sz="1550" b="1" dirty="0">
                <a:solidFill>
                  <a:srgbClr val="F4F2EC"/>
                </a:solidFill>
                <a:latin typeface="Inter" pitchFamily="34" charset="0"/>
                <a:ea typeface="Inter" pitchFamily="34" charset="-122"/>
                <a:cs typeface="Inter" pitchFamily="34" charset="-120"/>
              </a:rPr>
              <a:t>The PodDisruptionBudget does nothing here</a:t>
            </a:r>
            <a:endParaRPr lang="en-US" sz="1550" dirty="0"/>
          </a:p>
        </p:txBody>
      </p:sp>
      <p:sp>
        <p:nvSpPr>
          <p:cNvPr id="18" name="Text 16"/>
          <p:cNvSpPr/>
          <p:nvPr/>
        </p:nvSpPr>
        <p:spPr>
          <a:xfrm>
            <a:off x="1765192" y="5400384"/>
            <a:ext cx="9614720" cy="264698"/>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C6CCD6"/>
                </a:solidFill>
                <a:latin typeface="Inter" pitchFamily="34" charset="0"/>
                <a:ea typeface="Inter" pitchFamily="34" charset="-122"/>
                <a:cs typeface="Inter" pitchFamily="34" charset="-120"/>
              </a:rPr>
              <a:t>A PDB guards evictions: drains and upgrades. A direct delete walks straight past it.</a:t>
            </a:r>
            <a:endParaRPr lang="en-US" sz="1300" dirty="0"/>
          </a:p>
        </p:txBody>
      </p:sp>
      <p:sp>
        <p:nvSpPr>
          <p:cNvPr id="19" name="Text 17"/>
          <p:cNvSpPr/>
          <p:nvPr/>
        </p:nvSpPr>
        <p:spPr>
          <a:xfrm>
            <a:off x="10617218" y="6238242"/>
            <a:ext cx="8128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A8089"/>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71D"/>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528259"/>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4F2EC"/>
                </a:solidFill>
                <a:latin typeface="Space Grotesk" pitchFamily="34" charset="0"/>
                <a:ea typeface="Space Grotesk" pitchFamily="34" charset="-122"/>
                <a:cs typeface="Space Grotesk" pitchFamily="34" charset="-120"/>
              </a:rPr>
              <a:t>Four things to take away</a:t>
            </a:r>
            <a:endParaRPr lang="en-US" sz="3600" dirty="0"/>
          </a:p>
        </p:txBody>
      </p:sp>
      <p:sp>
        <p:nvSpPr>
          <p:cNvPr id="3" name="Text 1"/>
          <p:cNvSpPr/>
          <p:nvPr/>
        </p:nvSpPr>
        <p:spPr>
          <a:xfrm>
            <a:off x="812782" y="1676977"/>
            <a:ext cx="431800" cy="327656"/>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63E6A0"/>
                </a:solidFill>
                <a:latin typeface="Space Grotesk" pitchFamily="34" charset="0"/>
                <a:ea typeface="Space Grotesk" pitchFamily="34" charset="-122"/>
                <a:cs typeface="Space Grotesk" pitchFamily="34" charset="-120"/>
              </a:rPr>
              <a:t>01</a:t>
            </a:r>
            <a:endParaRPr lang="en-US" sz="1700" dirty="0"/>
          </a:p>
        </p:txBody>
      </p:sp>
      <p:sp>
        <p:nvSpPr>
          <p:cNvPr id="4" name="Text 2"/>
          <p:cNvSpPr/>
          <p:nvPr/>
        </p:nvSpPr>
        <p:spPr>
          <a:xfrm>
            <a:off x="1396910" y="1671203"/>
            <a:ext cx="10281777" cy="33848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F4F2EC"/>
                </a:solidFill>
                <a:latin typeface="Inter" pitchFamily="34" charset="0"/>
                <a:ea typeface="Inter" pitchFamily="34" charset="-122"/>
                <a:cs typeface="Inter" pitchFamily="34" charset="-120"/>
              </a:rPr>
              <a:t>Failure is the normal state of a distributed system. Design for it, then verify the design.</a:t>
            </a:r>
            <a:endParaRPr lang="en-US" sz="1700" dirty="0"/>
          </a:p>
        </p:txBody>
      </p:sp>
      <p:pic>
        <p:nvPicPr>
          <p:cNvPr id="5" name="Image 0" descr="line"/>
          <p:cNvPicPr>
            <a:picLocks noChangeAspect="1"/>
          </p:cNvPicPr>
          <p:nvPr/>
        </p:nvPicPr>
        <p:blipFill>
          <a:blip r:embed="rId3"/>
          <a:srcRect l="-5002" r="-5002"/>
          <a:stretch/>
        </p:blipFill>
        <p:spPr>
          <a:xfrm>
            <a:off x="812782" y="2187408"/>
            <a:ext cx="10566436" cy="11545"/>
          </a:xfrm>
          <a:prstGeom prst="rect">
            <a:avLst/>
          </a:prstGeom>
        </p:spPr>
      </p:pic>
      <p:sp>
        <p:nvSpPr>
          <p:cNvPr id="6" name="Text 3"/>
          <p:cNvSpPr/>
          <p:nvPr/>
        </p:nvSpPr>
        <p:spPr>
          <a:xfrm>
            <a:off x="812782" y="2407853"/>
            <a:ext cx="431800" cy="327656"/>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63E6A0"/>
                </a:solidFill>
                <a:latin typeface="Space Grotesk" pitchFamily="34" charset="0"/>
                <a:ea typeface="Space Grotesk" pitchFamily="34" charset="-122"/>
                <a:cs typeface="Space Grotesk" pitchFamily="34" charset="-120"/>
              </a:rPr>
              <a:t>02</a:t>
            </a:r>
            <a:endParaRPr lang="en-US" sz="1700" dirty="0"/>
          </a:p>
        </p:txBody>
      </p:sp>
      <p:sp>
        <p:nvSpPr>
          <p:cNvPr id="7" name="Text 4"/>
          <p:cNvSpPr/>
          <p:nvPr/>
        </p:nvSpPr>
        <p:spPr>
          <a:xfrm>
            <a:off x="1396910" y="2402086"/>
            <a:ext cx="10281777" cy="33848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F4F2EC"/>
                </a:solidFill>
                <a:latin typeface="Inter" pitchFamily="34" charset="0"/>
                <a:ea typeface="Inter" pitchFamily="34" charset="-122"/>
                <a:cs typeface="Inter" pitchFamily="34" charset="-120"/>
              </a:rPr>
              <a:t>A hypothesis turns breaking things into an experiment. Say what should happen, first.</a:t>
            </a:r>
            <a:endParaRPr lang="en-US" sz="1700" dirty="0"/>
          </a:p>
        </p:txBody>
      </p:sp>
      <p:pic>
        <p:nvPicPr>
          <p:cNvPr id="8" name="Image 1" descr="line"/>
          <p:cNvPicPr>
            <a:picLocks noChangeAspect="1"/>
          </p:cNvPicPr>
          <p:nvPr/>
        </p:nvPicPr>
        <p:blipFill>
          <a:blip r:embed="rId3"/>
          <a:srcRect l="-5002" r="-5002"/>
          <a:stretch/>
        </p:blipFill>
        <p:spPr>
          <a:xfrm>
            <a:off x="812782" y="2918290"/>
            <a:ext cx="10566436" cy="11545"/>
          </a:xfrm>
          <a:prstGeom prst="rect">
            <a:avLst/>
          </a:prstGeom>
        </p:spPr>
      </p:pic>
      <p:sp>
        <p:nvSpPr>
          <p:cNvPr id="9" name="Text 5"/>
          <p:cNvSpPr/>
          <p:nvPr/>
        </p:nvSpPr>
        <p:spPr>
          <a:xfrm>
            <a:off x="812782" y="3138736"/>
            <a:ext cx="431800" cy="327656"/>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63E6A0"/>
                </a:solidFill>
                <a:latin typeface="Space Grotesk" pitchFamily="34" charset="0"/>
                <a:ea typeface="Space Grotesk" pitchFamily="34" charset="-122"/>
                <a:cs typeface="Space Grotesk" pitchFamily="34" charset="-120"/>
              </a:rPr>
              <a:t>03</a:t>
            </a:r>
            <a:endParaRPr lang="en-US" sz="1700" dirty="0"/>
          </a:p>
        </p:txBody>
      </p:sp>
      <p:sp>
        <p:nvSpPr>
          <p:cNvPr id="10" name="Text 6"/>
          <p:cNvSpPr/>
          <p:nvPr/>
        </p:nvSpPr>
        <p:spPr>
          <a:xfrm>
            <a:off x="1396910" y="3132962"/>
            <a:ext cx="10281777" cy="33848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F4F2EC"/>
                </a:solidFill>
                <a:latin typeface="Inter" pitchFamily="34" charset="0"/>
                <a:ea typeface="Inter" pitchFamily="34" charset="-122"/>
                <a:cs typeface="Inter" pitchFamily="34" charset="-120"/>
              </a:rPr>
              <a:t>Start small and boring: one throwaway cluster, one deployment, one deleted pod.</a:t>
            </a:r>
            <a:endParaRPr lang="en-US" sz="1700" dirty="0"/>
          </a:p>
        </p:txBody>
      </p:sp>
      <p:pic>
        <p:nvPicPr>
          <p:cNvPr id="11" name="Image 2" descr="line"/>
          <p:cNvPicPr>
            <a:picLocks noChangeAspect="1"/>
          </p:cNvPicPr>
          <p:nvPr/>
        </p:nvPicPr>
        <p:blipFill>
          <a:blip r:embed="rId3"/>
          <a:srcRect l="-5002" r="-5002"/>
          <a:stretch/>
        </p:blipFill>
        <p:spPr>
          <a:xfrm>
            <a:off x="812782" y="3649173"/>
            <a:ext cx="10566436" cy="11545"/>
          </a:xfrm>
          <a:prstGeom prst="rect">
            <a:avLst/>
          </a:prstGeom>
        </p:spPr>
      </p:pic>
      <p:sp>
        <p:nvSpPr>
          <p:cNvPr id="12" name="Text 7"/>
          <p:cNvSpPr/>
          <p:nvPr/>
        </p:nvSpPr>
        <p:spPr>
          <a:xfrm>
            <a:off x="812782" y="3869618"/>
            <a:ext cx="431800" cy="327656"/>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63E6A0"/>
                </a:solidFill>
                <a:latin typeface="Space Grotesk" pitchFamily="34" charset="0"/>
                <a:ea typeface="Space Grotesk" pitchFamily="34" charset="-122"/>
                <a:cs typeface="Space Grotesk" pitchFamily="34" charset="-120"/>
              </a:rPr>
              <a:t>04</a:t>
            </a:r>
            <a:endParaRPr lang="en-US" sz="1700" dirty="0"/>
          </a:p>
        </p:txBody>
      </p:sp>
      <p:sp>
        <p:nvSpPr>
          <p:cNvPr id="13" name="Text 8"/>
          <p:cNvSpPr/>
          <p:nvPr/>
        </p:nvSpPr>
        <p:spPr>
          <a:xfrm>
            <a:off x="1396910" y="3863845"/>
            <a:ext cx="10281777" cy="33848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F4F2EC"/>
                </a:solidFill>
                <a:latin typeface="Inter" pitchFamily="34" charset="0"/>
                <a:ea typeface="Inter" pitchFamily="34" charset="-122"/>
                <a:cs typeface="Inter" pitchFamily="34" charset="-120"/>
              </a:rPr>
              <a:t>The experiment you are afraid to run is the one worth running. Carefully.</a:t>
            </a:r>
            <a:endParaRPr lang="en-US" sz="1700" dirty="0"/>
          </a:p>
        </p:txBody>
      </p:sp>
      <p:sp>
        <p:nvSpPr>
          <p:cNvPr id="14" name="Text 9"/>
          <p:cNvSpPr/>
          <p:nvPr/>
        </p:nvSpPr>
        <p:spPr>
          <a:xfrm>
            <a:off x="10617218" y="6238242"/>
            <a:ext cx="812800"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775"/>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1520</Words>
  <Application>Microsoft Office PowerPoint</Application>
  <PresentationFormat>Breitbild</PresentationFormat>
  <Paragraphs>177</Paragraphs>
  <Slides>13</Slides>
  <Notes>13</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13</vt:i4>
      </vt:variant>
    </vt:vector>
  </HeadingPairs>
  <TitlesOfParts>
    <vt:vector size="17" baseType="lpstr">
      <vt:lpstr>Arial</vt:lpstr>
      <vt:lpstr>Inter</vt:lpstr>
      <vt:lpstr>Space Grotesk</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Chaos Engineering — Introduction</dc:title>
  <dc:subject>PptxGenJS Presentation</dc:subject>
  <dc:creator>PptxGenJS</dc:creator>
  <cp:lastModifiedBy>Florian Löhden</cp:lastModifiedBy>
  <cp:revision>2</cp:revision>
  <dcterms:created xsi:type="dcterms:W3CDTF">2026-09-22T12:23:08Z</dcterms:created>
  <dcterms:modified xsi:type="dcterms:W3CDTF">2026-09-22T12:26:32Z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2026-09-22T12:26:32Z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e82c7449-4627-42f9-ab6e-ed7d13fecebc</vt:lpwstr>
  </property>
  <property fmtid="{D5CDD505-2E9C-101B-9397-08002B2CF9AE}" pid="7" name="MSIP_Label_defa4170-0d19-0005-0004-bc88714345d2_ActionId">
    <vt:lpwstr>20e40adb-670b-4a69-aad8-7941eed2f580</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